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6FA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144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269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knife.github.io/ARES2/Web/main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FF6A00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772400" y="3474720"/>
            <a:ext cx="1828800" cy="1828800"/>
          </a:xfrm>
          <a:prstGeom prst="ellipse">
            <a:avLst/>
          </a:prstGeom>
          <a:solidFill>
            <a:srgbClr val="1F6FAE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132320" y="1280160"/>
            <a:ext cx="137160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" y="502920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384048" y="502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고도화 운영계획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84048" y="9144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kern="0" spc="8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</a:t>
            </a:r>
            <a:endParaRPr lang="en-US" sz="8000" dirty="0"/>
          </a:p>
        </p:txBody>
      </p:sp>
      <p:sp>
        <p:nvSpPr>
          <p:cNvPr id="9" name="Text 6"/>
          <p:cNvSpPr/>
          <p:nvPr/>
        </p:nvSpPr>
        <p:spPr>
          <a:xfrm>
            <a:off x="384048" y="21488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교육용 로봇 플랫폼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84048" y="281635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UX/UI 개선 및 조립형 교구 제품화 디자인 방향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32186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(주)코리아사이언스  /  동명대학교 게임공학과 · 게임그래픽학과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4048" y="3794760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384048" y="379476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1일차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645920" y="3794760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1645920" y="379476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2일차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907792" y="3794760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2907792" y="379476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3일차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169664" y="3794760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4169664" y="379476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4일차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84048" y="4206240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384048" y="420624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5일차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645920" y="4206240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1645920" y="420624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콘셉트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907792" y="4206240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2907792" y="420624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컬러 시스템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169664" y="4206240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4169664" y="420624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 디자인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</a:t>
            </a: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구성 및 주요 업무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게임공학 · 게임그래픽 · 공통 협업 — 온라인 서비스와 실물 교구 병행 운영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7472" y="1024128"/>
            <a:ext cx="2724912" cy="3822192"/>
          </a:xfrm>
          <a:prstGeom prst="roundRect">
            <a:avLst>
              <a:gd name="adj" fmla="val 2685"/>
            </a:avLst>
          </a:prstGeom>
          <a:solidFill>
            <a:srgbClr val="EBF2FF"/>
          </a:solidFill>
          <a:ln w="15240">
            <a:solidFill>
              <a:srgbClr val="1F6FA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435608" y="1133856"/>
            <a:ext cx="548640" cy="548640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161288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77393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게임공학 학생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08483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 서비스 UX/UI 개선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12064" y="2496312"/>
            <a:ext cx="91440" cy="91440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76656" y="23957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랜딩 페이지 개선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12064" y="2880360"/>
            <a:ext cx="91440" cy="91440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76656" y="27797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관제실 흐름 분석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12064" y="3264408"/>
            <a:ext cx="91440" cy="91440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76656" y="31638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하단 내비게이션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12064" y="3648456"/>
            <a:ext cx="91440" cy="91440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676656" y="35478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 코딩 진입 동선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12064" y="4032504"/>
            <a:ext cx="91440" cy="91440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676656" y="3931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시뮬레이션 연결 흐름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12064" y="4416552"/>
            <a:ext cx="91440" cy="91440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676656" y="43159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도움 및 기기 점검 화면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200400" y="1024128"/>
            <a:ext cx="2724912" cy="3822192"/>
          </a:xfrm>
          <a:prstGeom prst="roundRect">
            <a:avLst>
              <a:gd name="adj" fmla="val 2685"/>
            </a:avLst>
          </a:prstGeom>
          <a:solidFill>
            <a:srgbClr val="FFF3EB"/>
          </a:solidFill>
          <a:ln w="15240">
            <a:solidFill>
              <a:srgbClr val="FF6A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4288536" y="1133856"/>
            <a:ext cx="548640" cy="5486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161288"/>
            <a:ext cx="493776" cy="49377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310128" y="177393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게임그래픽 학생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3310128" y="208483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조립형 교구 제품 디자인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3364992" y="2496312"/>
            <a:ext cx="91440" cy="914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/>
          <p:nvPr/>
        </p:nvSpPr>
        <p:spPr>
          <a:xfrm>
            <a:off x="3529584" y="23957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교구 조립 및 문제 도출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3364992" y="2880360"/>
            <a:ext cx="91440" cy="914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/>
          <p:nvPr/>
        </p:nvSpPr>
        <p:spPr>
          <a:xfrm>
            <a:off x="3529584" y="27797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프린터 출력 구조 검토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3364992" y="3264408"/>
            <a:ext cx="91440" cy="914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/>
          <p:nvPr/>
        </p:nvSpPr>
        <p:spPr>
          <a:xfrm>
            <a:off x="3529584" y="31638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외형 슬림화 방향 제안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3364992" y="3648456"/>
            <a:ext cx="91440" cy="914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/>
          <p:nvPr/>
        </p:nvSpPr>
        <p:spPr>
          <a:xfrm>
            <a:off x="3529584" y="35478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모듈별 스티커 그래픽 제작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3364992" y="4032504"/>
            <a:ext cx="91440" cy="914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1"/>
          <p:cNvSpPr/>
          <p:nvPr/>
        </p:nvSpPr>
        <p:spPr>
          <a:xfrm>
            <a:off x="3529584" y="3931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컬러·소재감 방향 설정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3364992" y="4416552"/>
            <a:ext cx="91440" cy="914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3"/>
          <p:cNvSpPr/>
          <p:nvPr/>
        </p:nvSpPr>
        <p:spPr>
          <a:xfrm>
            <a:off x="3529584" y="43159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조립 순서 및 제품화 방향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6053328" y="1024128"/>
            <a:ext cx="2724912" cy="3822192"/>
          </a:xfrm>
          <a:prstGeom prst="roundRect">
            <a:avLst>
              <a:gd name="adj" fmla="val 2685"/>
            </a:avLst>
          </a:prstGeom>
          <a:solidFill>
            <a:srgbClr val="E8EBF0"/>
          </a:solidFill>
          <a:ln w="15240">
            <a:solidFill>
              <a:srgbClr val="4A515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5"/>
          <p:cNvSpPr/>
          <p:nvPr/>
        </p:nvSpPr>
        <p:spPr>
          <a:xfrm>
            <a:off x="7141464" y="1133856"/>
            <a:ext cx="548640" cy="548640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1161288"/>
            <a:ext cx="493776" cy="493776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6163056" y="177393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협업</a:t>
            </a:r>
            <a:endParaRPr lang="en-US" sz="1300" dirty="0"/>
          </a:p>
        </p:txBody>
      </p:sp>
      <p:sp>
        <p:nvSpPr>
          <p:cNvPr id="42" name="Text 37"/>
          <p:cNvSpPr/>
          <p:nvPr/>
        </p:nvSpPr>
        <p:spPr>
          <a:xfrm>
            <a:off x="6163056" y="208483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적용 관점 검토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6217920" y="2496312"/>
            <a:ext cx="91440" cy="91440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9"/>
          <p:cNvSpPr/>
          <p:nvPr/>
        </p:nvSpPr>
        <p:spPr>
          <a:xfrm>
            <a:off x="6382512" y="23957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초등학생 이해·조립 가능성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6217920" y="2880360"/>
            <a:ext cx="91440" cy="91440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1"/>
          <p:cNvSpPr/>
          <p:nvPr/>
        </p:nvSpPr>
        <p:spPr>
          <a:xfrm>
            <a:off x="6382512" y="27797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 수업 관리 편의성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6217920" y="3264408"/>
            <a:ext cx="91440" cy="91440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3"/>
          <p:cNvSpPr/>
          <p:nvPr/>
        </p:nvSpPr>
        <p:spPr>
          <a:xfrm>
            <a:off x="6382512" y="31638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온라인·실물 스토리 연결성</a:t>
            </a:r>
            <a:endParaRPr lang="en-US" sz="1050" dirty="0"/>
          </a:p>
        </p:txBody>
      </p:sp>
      <p:sp>
        <p:nvSpPr>
          <p:cNvPr id="49" name="Shape 44"/>
          <p:cNvSpPr/>
          <p:nvPr/>
        </p:nvSpPr>
        <p:spPr>
          <a:xfrm>
            <a:off x="6217920" y="3648456"/>
            <a:ext cx="91440" cy="91440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5"/>
          <p:cNvSpPr/>
          <p:nvPr/>
        </p:nvSpPr>
        <p:spPr>
          <a:xfrm>
            <a:off x="6382512" y="35478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중 오류 대응 방안</a:t>
            </a:r>
            <a:endParaRPr lang="en-US" sz="1050" dirty="0"/>
          </a:p>
        </p:txBody>
      </p:sp>
      <p:sp>
        <p:nvSpPr>
          <p:cNvPr id="51" name="Shape 46"/>
          <p:cNvSpPr/>
          <p:nvPr/>
        </p:nvSpPr>
        <p:spPr>
          <a:xfrm>
            <a:off x="6217920" y="4032504"/>
            <a:ext cx="91440" cy="91440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7"/>
          <p:cNvSpPr/>
          <p:nvPr/>
        </p:nvSpPr>
        <p:spPr>
          <a:xfrm>
            <a:off x="6382512" y="3931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화성 탐사 세계관 일관성</a:t>
            </a:r>
            <a:endParaRPr lang="en-US" sz="1050" dirty="0"/>
          </a:p>
        </p:txBody>
      </p:sp>
      <p:sp>
        <p:nvSpPr>
          <p:cNvPr id="53" name="Shape 48"/>
          <p:cNvSpPr/>
          <p:nvPr/>
        </p:nvSpPr>
        <p:spPr>
          <a:xfrm>
            <a:off x="6217920" y="4416552"/>
            <a:ext cx="91440" cy="91440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9"/>
          <p:cNvSpPr/>
          <p:nvPr/>
        </p:nvSpPr>
        <p:spPr>
          <a:xfrm>
            <a:off x="6382512" y="43159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결과물 공동 검토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F6A00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코리아사이언스 특강 · 요구사항 분석 · 디자인 방향 설정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설명 청취 → 서비스·교구 리뷰 → 5일 방향 설정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274320" cy="27432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3886200"/>
            <a:ext cx="182880" cy="182880"/>
          </a:xfrm>
          <a:prstGeom prst="ellipse">
            <a:avLst/>
          </a:prstGeom>
          <a:solidFill>
            <a:srgbClr val="FF6A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7280" y="3931920"/>
            <a:ext cx="109728" cy="109728"/>
          </a:xfrm>
          <a:prstGeom prst="ellipse">
            <a:avLst/>
          </a:prstGeom>
          <a:solidFill>
            <a:srgbClr val="FF6A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</a:t>
            </a: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코리아사이언스 특강 &amp; 요구사항 분석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담당자 특강 → 서비스·교구 현황 검토 → 요구사항 정리 → 5일 방향 설정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1874520" cy="365760"/>
          </a:xfrm>
          <a:prstGeom prst="rect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20624" y="10058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활동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59152" y="1005840"/>
            <a:ext cx="2880360" cy="36576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432304" y="100584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내용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76672" y="1005840"/>
            <a:ext cx="3337560" cy="365760"/>
          </a:xfrm>
          <a:prstGeom prst="rect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49824" y="1005840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체크포인트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1417320"/>
            <a:ext cx="18745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38912" y="1417320"/>
            <a:ext cx="17556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코리아사이언스 특강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59152" y="1417320"/>
            <a:ext cx="2880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50592" y="1417320"/>
            <a:ext cx="2761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 플랫폼의 교육 목적, 화성 탐사 스토리, 온라인 서비스 구성, 실물 교구 구성, 제품화 시 고려사항을 듣는다.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76672" y="1417320"/>
            <a:ext cx="33375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68112" y="1417320"/>
            <a:ext cx="32186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 필수 — 이후 MoSCoW 분류 </a:t>
            </a:r>
            <a:r>
              <a:rPr lang="en-US" sz="1000" dirty="0" err="1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기준이</a:t>
            </a:r>
            <a:r>
              <a:rPr lang="en-US" sz="1000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됨</a:t>
            </a:r>
          </a:p>
          <a:p>
            <a:r>
              <a:rPr lang="ko-KR" altLang="ko-KR" sz="1000" dirty="0" err="1">
                <a:solidFill>
                  <a:schemeClr val="bg1">
                    <a:lumMod val="50000"/>
                  </a:schemeClr>
                </a:solidFill>
              </a:rPr>
              <a:t>Must</a:t>
            </a:r>
            <a:r>
              <a:rPr lang="ko-KR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ko-KR" sz="1000" dirty="0" err="1">
                <a:solidFill>
                  <a:schemeClr val="bg1">
                    <a:lumMod val="50000"/>
                  </a:schemeClr>
                </a:solidFill>
              </a:rPr>
              <a:t>have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ko-KR" sz="1000" dirty="0" err="1">
                <a:solidFill>
                  <a:schemeClr val="bg1">
                    <a:lumMod val="50000"/>
                  </a:schemeClr>
                </a:solidFill>
              </a:rPr>
              <a:t>Should</a:t>
            </a:r>
            <a:r>
              <a:rPr lang="ko-KR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ko-KR" sz="1000" dirty="0" err="1">
                <a:solidFill>
                  <a:schemeClr val="bg1">
                    <a:lumMod val="50000"/>
                  </a:schemeClr>
                </a:solidFill>
              </a:rPr>
              <a:t>have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ko-KR" sz="1000" dirty="0" err="1">
                <a:solidFill>
                  <a:schemeClr val="bg1">
                    <a:lumMod val="50000"/>
                  </a:schemeClr>
                </a:solidFill>
              </a:rPr>
              <a:t>Could</a:t>
            </a:r>
            <a:r>
              <a:rPr lang="ko-KR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ko-KR" sz="1000" dirty="0" err="1">
                <a:solidFill>
                  <a:schemeClr val="bg1">
                    <a:lumMod val="50000"/>
                  </a:schemeClr>
                </a:solidFill>
              </a:rPr>
              <a:t>have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ko-KR" sz="1000" dirty="0" err="1">
                <a:solidFill>
                  <a:schemeClr val="bg1">
                    <a:lumMod val="50000"/>
                  </a:schemeClr>
                </a:solidFill>
              </a:rPr>
              <a:t>Won’t</a:t>
            </a:r>
            <a:r>
              <a:rPr lang="ko-KR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ko-KR" sz="1000" dirty="0" err="1">
                <a:solidFill>
                  <a:schemeClr val="bg1">
                    <a:lumMod val="50000"/>
                  </a:schemeClr>
                </a:solidFill>
              </a:rPr>
              <a:t>have</a:t>
            </a:r>
            <a:r>
              <a:rPr lang="ko-KR" altLang="ko-KR" sz="1000" dirty="0">
                <a:solidFill>
                  <a:schemeClr val="bg1">
                    <a:lumMod val="50000"/>
                  </a:schemeClr>
                </a:solidFill>
              </a:rPr>
              <a:t> / </a:t>
            </a:r>
            <a:r>
              <a:rPr lang="ko-KR" altLang="ko-KR" sz="1000" dirty="0" err="1">
                <a:solidFill>
                  <a:schemeClr val="bg1">
                    <a:lumMod val="50000"/>
                  </a:schemeClr>
                </a:solidFill>
              </a:rPr>
              <a:t>Would</a:t>
            </a:r>
            <a:r>
              <a:rPr lang="ko-KR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ko-KR" sz="1000" dirty="0" err="1">
                <a:solidFill>
                  <a:schemeClr val="bg1">
                    <a:lumMod val="50000"/>
                  </a:schemeClr>
                </a:solidFill>
              </a:rPr>
              <a:t>like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47472" y="2139696"/>
            <a:ext cx="1874520" cy="676656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38912" y="2139696"/>
            <a:ext cx="17556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서비스 리뷰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59152" y="2139696"/>
            <a:ext cx="2880360" cy="676656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450592" y="2139696"/>
            <a:ext cx="2761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랜딩 페이지, 학습 관제실, 차시·미션 선택, 블록 코딩 진입, 3D 시뮬레이션, AI 도움, 기기 점검 대시보드를 확인한다.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76672" y="2139696"/>
            <a:ext cx="3337560" cy="676656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468112" y="2139696"/>
            <a:ext cx="32186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스크린샷 캡처 + 문제점 스티커 메모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2862072"/>
            <a:ext cx="18745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38912" y="2862072"/>
            <a:ext cx="17556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플랫폼 점검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59152" y="2862072"/>
            <a:ext cx="2880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450592" y="2862072"/>
            <a:ext cx="2761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휴대폰·태블릿 환경에서 하단 내비게이션, 버튼 크기, 터치 동선, safe-area, 화면 스크롤과 가독성을 점검한다.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76672" y="2862072"/>
            <a:ext cx="33375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468112" y="2862072"/>
            <a:ext cx="32186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기기별</a:t>
            </a:r>
            <a:r>
              <a:rPr lang="en-US" sz="1000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</a:t>
            </a:r>
            <a:r>
              <a:rPr lang="en-US" sz="1000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기록</a:t>
            </a:r>
            <a:br>
              <a:rPr lang="en-US" sz="1000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ko-KR" altLang="en-US" sz="1000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반응형 웹</a:t>
            </a:r>
            <a:r>
              <a:rPr lang="en-US" altLang="ko-KR" sz="1000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ko-KR" altLang="en-US" sz="1000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디자인 적용 여부를 검토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" y="3584448"/>
            <a:ext cx="1874520" cy="676656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38912" y="3584448"/>
            <a:ext cx="17556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분석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59152" y="3584448"/>
            <a:ext cx="2880360" cy="676656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2450592" y="3584448"/>
            <a:ext cx="2761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초등학생 사용성, 교사용 운영 편의성, 수업 중 오류 대응, 조립 난이도, 스티커와 색상으로 전달할 정보 범위를 정리한다.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76672" y="3584448"/>
            <a:ext cx="3337560" cy="676656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468112" y="3584448"/>
            <a:ext cx="32186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반응형 스크린샷 비교 기반 </a:t>
            </a:r>
            <a:r>
              <a:rPr lang="en-US" altLang="ko-KR" sz="1000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UX </a:t>
            </a:r>
            <a:r>
              <a:rPr lang="ko-KR" altLang="en-US" sz="1000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이슈 클러스터링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7472" y="4306824"/>
            <a:ext cx="18745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38912" y="4306824"/>
            <a:ext cx="17556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방향 설정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359152" y="4306824"/>
            <a:ext cx="2880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2450592" y="4306824"/>
            <a:ext cx="2761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 서비스는 '화성 미션 관제실', 실물 교구는 '직접 조립하는 화성 탐사 장비'라는 방향으로 역할을 구분한다.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76672" y="4306824"/>
            <a:ext cx="33375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468112" y="4306824"/>
            <a:ext cx="32186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디자인 방향성 </a:t>
            </a:r>
            <a:r>
              <a:rPr lang="ko-KR" altLang="en-US" sz="1000" dirty="0" err="1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브리프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</a:t>
            </a: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현황 점검 워크시트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화면별 현황 기록 — 즉시 기입, 담당자 서명 후 공유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 서비스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371600"/>
            <a:ext cx="1554480" cy="292608"/>
          </a:xfrm>
          <a:prstGeom prst="rect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02336" y="137160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93392" y="1371600"/>
            <a:ext cx="822960" cy="292608"/>
          </a:xfrm>
          <a:prstGeom prst="rect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048256" y="137160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07792" y="1371600"/>
            <a:ext cx="2377440" cy="292608"/>
          </a:xfrm>
          <a:prstGeom prst="rect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962656" y="137160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확인 항목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1700784"/>
            <a:ext cx="4937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02336" y="1700784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랜딩 페이지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48256" y="175564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1F6F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962656" y="17007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정체성 전달 여부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2066544"/>
            <a:ext cx="4937760" cy="329184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02336" y="2066544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관제실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48256" y="212140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1F6F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962656" y="20665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차시 구조 직관성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2432304"/>
            <a:ext cx="4937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02336" y="2432304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 코딩 UI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48256" y="248716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1F6F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962656" y="24323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 레이블 명확성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2798064"/>
            <a:ext cx="4937760" cy="329184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02336" y="2798064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시뮬레이션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048256" y="285292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1F6F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962656" y="27980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로딩 속도 / 피드백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3163824"/>
            <a:ext cx="4937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02336" y="3163824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도움 (알비)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048256" y="321868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1F6F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2962656" y="316382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진입 버튼 노출 여부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" y="3529584"/>
            <a:ext cx="4937760" cy="329184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02336" y="3529584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기기 점검 대시보드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048256" y="358444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1F6F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2962656" y="35295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 상태 시각화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50992" y="10058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실물 교구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650992" y="1371600"/>
            <a:ext cx="3291840" cy="292608"/>
          </a:xfrm>
          <a:prstGeom prst="rect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705856" y="1371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077456" y="1371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확인 항목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50992" y="1700784"/>
            <a:ext cx="3291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705856" y="170078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룰렛 모듈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077456" y="175564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7370064" y="170078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포인터 안정성 / 회전축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50992" y="2066544"/>
            <a:ext cx="3291840" cy="329184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705856" y="20665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알비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077456" y="212140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7370064" y="206654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배선 노출 / 소재감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650992" y="2432304"/>
            <a:ext cx="3291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5705856" y="24323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알비카트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077456" y="248716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7370064" y="243230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주행 안정성 / 일체감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650992" y="2798064"/>
            <a:ext cx="3291840" cy="329184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5705856" y="27980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화성신호등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077456" y="285292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7370064" y="279806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모드 구분 / 아크릴 교체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650992" y="3163824"/>
            <a:ext cx="3291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5705856" y="316382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가위바위보 모듈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077456" y="321868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7370064" y="316382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아이콘 가독성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650992" y="3529584"/>
            <a:ext cx="3291840" cy="329184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5705856" y="352958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화성발사대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077456" y="358444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7370064" y="352958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공간 / 슬림화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47472" y="4572000"/>
            <a:ext cx="8449056" cy="402336"/>
          </a:xfrm>
          <a:prstGeom prst="roundRect">
            <a:avLst>
              <a:gd name="adj" fmla="val 18182"/>
            </a:avLst>
          </a:prstGeom>
          <a:solidFill>
            <a:srgbClr val="FFF3EB"/>
          </a:solidFill>
          <a:ln w="12700">
            <a:solidFill>
              <a:srgbClr val="FF6A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663440"/>
            <a:ext cx="256032" cy="256032"/>
          </a:xfrm>
          <a:prstGeom prst="rect">
            <a:avLst/>
          </a:prstGeom>
        </p:spPr>
      </p:pic>
      <p:sp>
        <p:nvSpPr>
          <p:cNvPr id="65" name="Text 62"/>
          <p:cNvSpPr/>
          <p:nvPr/>
        </p:nvSpPr>
        <p:spPr>
          <a:xfrm>
            <a:off x="841248" y="46177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산출물: 요구사항 분석 시트 v1.0  —  온라인·실물 문제점 목록 + 디자인 </a:t>
            </a:r>
            <a:r>
              <a:rPr lang="en-US" sz="1000" b="1" dirty="0" err="1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방향</a:t>
            </a:r>
            <a:r>
              <a:rPr lang="en-US" sz="1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000" b="1" dirty="0" err="1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브리프</a:t>
            </a:r>
            <a:endParaRPr lang="en-US" sz="1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5AFE177-CA30-3404-9471-C7FF16594101}"/>
              </a:ext>
            </a:extLst>
          </p:cNvPr>
          <p:cNvSpPr txBox="1"/>
          <p:nvPr/>
        </p:nvSpPr>
        <p:spPr>
          <a:xfrm>
            <a:off x="1390320" y="1036838"/>
            <a:ext cx="449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hlinkClick r:id="rId4"/>
              </a:rPr>
              <a:t>https://dknife.github.io/ARES2/Web/main.html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F6A00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UX/UI 개선 계획 수립 및 실물 교구 조립 점검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계획 수립 → 실제 조립 → 수정 사항 도출 → 역할 분담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274320" cy="27432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3886200"/>
            <a:ext cx="182880" cy="182880"/>
          </a:xfrm>
          <a:prstGeom prst="ellipse">
            <a:avLst/>
          </a:prstGeom>
          <a:solidFill>
            <a:srgbClr val="FF6A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7280" y="3931920"/>
            <a:ext cx="109728" cy="109728"/>
          </a:xfrm>
          <a:prstGeom prst="ellipse">
            <a:avLst/>
          </a:prstGeom>
          <a:solidFill>
            <a:srgbClr val="FF6A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</a:t>
            </a: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UX/UI 개선 계획 수립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화면 영역 분석 → 개선 대상 정리 → 게임공학 팀 착수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7472" y="1024128"/>
            <a:ext cx="8449056" cy="73152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9525">
            <a:solidFill>
              <a:srgbClr val="FF6A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475488" cy="475488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179576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2416" y="10972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랜딩 페이지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42416" y="14081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현재: 기능 설명 중심 나열, 제품 정체성 불명확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1673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46320" y="1097280"/>
            <a:ext cx="3321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목표: "블록 코딩으로 화성을 탐사하다" 첫 화면 전달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846320" y="1536192"/>
            <a:ext cx="91440" cy="914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5029200" y="1444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스토리 비주얼 Hero 영역 설계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766560" y="1482696"/>
            <a:ext cx="91440" cy="914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6919560" y="1435608"/>
            <a:ext cx="142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탐사 시작 CTA 버튼 배치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846320" y="1993392"/>
            <a:ext cx="91440" cy="914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5029200" y="1901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4분기 학습 여정 한눈에 표시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47472" y="1828800"/>
            <a:ext cx="844905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F6FA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57200" y="1956816"/>
            <a:ext cx="475488" cy="475488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198424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42416" y="1901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관제실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42416" y="22128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현재: 12차시 다수 미션 일괄 나열 → 학생 압도감</a:t>
            </a:r>
            <a:endParaRPr lang="en-US" sz="9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12140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846320" y="1901952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목표: 현재 차시 + 다음 미션 중심으로 단순화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849560" y="2289384"/>
            <a:ext cx="91440" cy="91440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9"/>
          <p:cNvSpPr/>
          <p:nvPr/>
        </p:nvSpPr>
        <p:spPr>
          <a:xfrm>
            <a:off x="5029200" y="22494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미션 카드 최상단 고정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6702552" y="2313432"/>
            <a:ext cx="91440" cy="91440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/>
          <p:nvPr/>
        </p:nvSpPr>
        <p:spPr>
          <a:xfrm>
            <a:off x="6882192" y="2258568"/>
            <a:ext cx="128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분기별 진행 바 표시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846320" y="2798064"/>
            <a:ext cx="91440" cy="91440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/>
          <p:nvPr/>
        </p:nvSpPr>
        <p:spPr>
          <a:xfrm>
            <a:off x="5029200" y="27066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차시 접기(Accordion) 구조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47472" y="2633472"/>
            <a:ext cx="8449056" cy="73152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9525">
            <a:solidFill>
              <a:srgbClr val="4A515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5"/>
          <p:cNvSpPr/>
          <p:nvPr/>
        </p:nvSpPr>
        <p:spPr>
          <a:xfrm>
            <a:off x="457200" y="2761488"/>
            <a:ext cx="475488" cy="475488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2788920"/>
            <a:ext cx="420624" cy="42062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42416" y="27066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플랫폼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1042416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현재: 반응형 미적용, 버튼 겹침, 터치 영역 협소</a:t>
            </a:r>
            <a:endParaRPr lang="en-US" sz="95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926080"/>
            <a:ext cx="219456" cy="21945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846320" y="270662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목표: 한 손 터치 가능, 하단 고정 내비게이션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4846320" y="3096216"/>
            <a:ext cx="91440" cy="91440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0"/>
          <p:cNvSpPr/>
          <p:nvPr/>
        </p:nvSpPr>
        <p:spPr>
          <a:xfrm>
            <a:off x="5029200" y="30540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하단 4탭 고정 배치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6419088" y="3099816"/>
            <a:ext cx="91440" cy="91440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2"/>
          <p:cNvSpPr/>
          <p:nvPr/>
        </p:nvSpPr>
        <p:spPr>
          <a:xfrm>
            <a:off x="6583680" y="3031416"/>
            <a:ext cx="14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safe-area 대응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4846320" y="3602736"/>
            <a:ext cx="91440" cy="91440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4"/>
          <p:cNvSpPr/>
          <p:nvPr/>
        </p:nvSpPr>
        <p:spPr>
          <a:xfrm>
            <a:off x="5029200" y="35112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터치 타겟 최소 44pt 확보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347472" y="3438144"/>
            <a:ext cx="844905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F6A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6"/>
          <p:cNvSpPr/>
          <p:nvPr/>
        </p:nvSpPr>
        <p:spPr>
          <a:xfrm>
            <a:off x="457200" y="3566160"/>
            <a:ext cx="475488" cy="475488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" y="3593592"/>
            <a:ext cx="420624" cy="420624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042416" y="3511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 코딩 진입</a:t>
            </a:r>
            <a:endParaRPr lang="en-US" sz="1200" dirty="0"/>
          </a:p>
        </p:txBody>
      </p:sp>
      <p:sp>
        <p:nvSpPr>
          <p:cNvPr id="47" name="Text 38"/>
          <p:cNvSpPr/>
          <p:nvPr/>
        </p:nvSpPr>
        <p:spPr>
          <a:xfrm>
            <a:off x="1042416" y="3822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현재: 진입 경로 불명확, 버튼 레이블 아이콘만</a:t>
            </a:r>
            <a:endParaRPr lang="en-US" sz="950" dirty="0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730752"/>
            <a:ext cx="219456" cy="219456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4846320" y="351129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목표: 미션 컨텍스트 유지한 채 1클릭 코딩 진입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4846320" y="3904488"/>
            <a:ext cx="91440" cy="914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1"/>
          <p:cNvSpPr/>
          <p:nvPr/>
        </p:nvSpPr>
        <p:spPr>
          <a:xfrm>
            <a:off x="5029200" y="3858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아이콘+텍스트 레이블 병행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6583680" y="3913128"/>
            <a:ext cx="91440" cy="914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3"/>
          <p:cNvSpPr/>
          <p:nvPr/>
        </p:nvSpPr>
        <p:spPr>
          <a:xfrm>
            <a:off x="6748272" y="38582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처음 사용자 온보딩 투어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</a:t>
            </a: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실물 교구 조립 점검 &amp; 수정 사항 도출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모듈을 직접 조립하며 결합·배선·마감·스티커 위치 확인 → 수정 우선순위 도출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4251960" cy="1938528"/>
          </a:xfrm>
          <a:prstGeom prst="roundRect">
            <a:avLst>
              <a:gd name="adj" fmla="val 3774"/>
            </a:avLst>
          </a:prstGeom>
          <a:solidFill>
            <a:srgbClr val="F5F6F8"/>
          </a:solidFill>
          <a:ln w="12700">
            <a:solidFill>
              <a:srgbClr val="1F6FA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12064" y="1115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룰렛 모듈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73552" y="111556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 점수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73552" y="12618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68/100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2064" y="1554480"/>
            <a:ext cx="3895344" cy="164592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12064" y="1554480"/>
            <a:ext cx="2648834" cy="164592"/>
          </a:xfrm>
          <a:prstGeom prst="roundRect">
            <a:avLst>
              <a:gd name="adj" fmla="val 50000"/>
            </a:avLst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847088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8096" y="1819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상판 의미 전달 약함</a:t>
            </a:r>
            <a:endParaRPr lang="en-US" sz="10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167128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" y="2139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포인터 고정 불안정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12064" y="2514600"/>
            <a:ext cx="3895344" cy="274320"/>
          </a:xfrm>
          <a:prstGeom prst="roundRect">
            <a:avLst>
              <a:gd name="adj" fmla="val 13333"/>
            </a:avLst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512064" y="25146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스티커 교체형 설계 + 중심축 나사 고정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82312" y="1005840"/>
            <a:ext cx="4251960" cy="1938528"/>
          </a:xfrm>
          <a:prstGeom prst="roundRect">
            <a:avLst>
              <a:gd name="adj" fmla="val 3774"/>
            </a:avLst>
          </a:prstGeom>
          <a:solidFill>
            <a:srgbClr val="F5F6F8"/>
          </a:solidFill>
          <a:ln w="12700">
            <a:solidFill>
              <a:srgbClr val="FF6A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4946904" y="1115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알비 &amp; 알비카트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708392" y="111556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 점수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7708392" y="12618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55/100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946904" y="1554480"/>
            <a:ext cx="3895344" cy="164592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4946904" y="1554480"/>
            <a:ext cx="2142439" cy="164592"/>
          </a:xfrm>
          <a:prstGeom prst="roundRect">
            <a:avLst>
              <a:gd name="adj" fmla="val 50000"/>
            </a:avLst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1847088"/>
            <a:ext cx="182880" cy="1828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02936" y="1819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적층감 노출</a:t>
            </a:r>
            <a:endParaRPr lang="en-US" sz="10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2167128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02936" y="2139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배선 노출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946904" y="2514600"/>
            <a:ext cx="3895344" cy="274320"/>
          </a:xfrm>
          <a:prstGeom prst="roundRect">
            <a:avLst>
              <a:gd name="adj" fmla="val 13333"/>
            </a:avLst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/>
          <p:nvPr/>
        </p:nvSpPr>
        <p:spPr>
          <a:xfrm>
            <a:off x="4946904" y="25146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Metallic Blue PLA + 케이블 홈 정리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47472" y="3072384"/>
            <a:ext cx="4251960" cy="1938528"/>
          </a:xfrm>
          <a:prstGeom prst="roundRect">
            <a:avLst>
              <a:gd name="adj" fmla="val 3774"/>
            </a:avLst>
          </a:prstGeom>
          <a:solidFill>
            <a:srgbClr val="F5F6F8"/>
          </a:solidFill>
          <a:ln w="12700">
            <a:solidFill>
              <a:srgbClr val="4A515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/>
          <p:nvPr/>
        </p:nvSpPr>
        <p:spPr>
          <a:xfrm>
            <a:off x="512064" y="3182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화성신호등·RPS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3273552" y="318211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 점수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3273552" y="33284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48/100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512064" y="3621024"/>
            <a:ext cx="3895344" cy="164592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7"/>
          <p:cNvSpPr/>
          <p:nvPr/>
        </p:nvSpPr>
        <p:spPr>
          <a:xfrm>
            <a:off x="512064" y="3621024"/>
            <a:ext cx="1869765" cy="164592"/>
          </a:xfrm>
          <a:prstGeom prst="roundRect">
            <a:avLst>
              <a:gd name="adj" fmla="val 50000"/>
            </a:avLst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913632"/>
            <a:ext cx="182880" cy="1828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68096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모드 구분 불명확</a:t>
            </a:r>
            <a:endParaRPr lang="en-US" sz="105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233672"/>
            <a:ext cx="182880" cy="1828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68096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전구 색상 의존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512064" y="4581144"/>
            <a:ext cx="3895344" cy="274320"/>
          </a:xfrm>
          <a:prstGeom prst="roundRect">
            <a:avLst>
              <a:gd name="adj" fmla="val 13333"/>
            </a:avLst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1"/>
          <p:cNvSpPr/>
          <p:nvPr/>
        </p:nvSpPr>
        <p:spPr>
          <a:xfrm>
            <a:off x="512064" y="458114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아크릴 교체형 아이콘 슬롯 설계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4782312" y="3072384"/>
            <a:ext cx="4251960" cy="1938528"/>
          </a:xfrm>
          <a:prstGeom prst="roundRect">
            <a:avLst>
              <a:gd name="adj" fmla="val 3774"/>
            </a:avLst>
          </a:prstGeom>
          <a:solidFill>
            <a:srgbClr val="F5F6F8"/>
          </a:solidFill>
          <a:ln w="12700">
            <a:solidFill>
              <a:srgbClr val="1F6FA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3"/>
          <p:cNvSpPr/>
          <p:nvPr/>
        </p:nvSpPr>
        <p:spPr>
          <a:xfrm>
            <a:off x="4946904" y="3182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화성발사대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7708392" y="318211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 점수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7708392" y="33284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42/100</a:t>
            </a:r>
            <a:endParaRPr lang="en-US" sz="1300" dirty="0"/>
          </a:p>
        </p:txBody>
      </p:sp>
      <p:sp>
        <p:nvSpPr>
          <p:cNvPr id="44" name="Shape 36"/>
          <p:cNvSpPr/>
          <p:nvPr/>
        </p:nvSpPr>
        <p:spPr>
          <a:xfrm>
            <a:off x="4946904" y="3621024"/>
            <a:ext cx="3895344" cy="164592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7"/>
          <p:cNvSpPr/>
          <p:nvPr/>
        </p:nvSpPr>
        <p:spPr>
          <a:xfrm>
            <a:off x="4946904" y="3621024"/>
            <a:ext cx="1636044" cy="164592"/>
          </a:xfrm>
          <a:prstGeom prst="roundRect">
            <a:avLst>
              <a:gd name="adj" fmla="val 50000"/>
            </a:avLst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3913632"/>
            <a:ext cx="182880" cy="18288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5202936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박스형 둔탁함</a:t>
            </a:r>
            <a:endParaRPr lang="en-US" sz="1050" dirty="0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4233672"/>
            <a:ext cx="182880" cy="18288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5202936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빈 공간 과다</a:t>
            </a:r>
            <a:endParaRPr lang="en-US" sz="1050" dirty="0"/>
          </a:p>
        </p:txBody>
      </p:sp>
      <p:sp>
        <p:nvSpPr>
          <p:cNvPr id="50" name="Shape 40"/>
          <p:cNvSpPr/>
          <p:nvPr/>
        </p:nvSpPr>
        <p:spPr>
          <a:xfrm>
            <a:off x="4946904" y="4581144"/>
            <a:ext cx="3895344" cy="274320"/>
          </a:xfrm>
          <a:prstGeom prst="roundRect">
            <a:avLst>
              <a:gd name="adj" fmla="val 13333"/>
            </a:avLst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1"/>
          <p:cNvSpPr/>
          <p:nvPr/>
        </p:nvSpPr>
        <p:spPr>
          <a:xfrm>
            <a:off x="4946904" y="458114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슬림형 외장 재설계 + 배선 정리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F6A00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구체화 · 조립 모델 확인 · 스티커 제작 방향 설정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개선안 제작 → 조립 모델 디자인 확인 → 스티커 방향 → 3D 프린팅 검토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274320" cy="27432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3886200"/>
            <a:ext cx="182880" cy="182880"/>
          </a:xfrm>
          <a:prstGeom prst="ellipse">
            <a:avLst/>
          </a:prstGeom>
          <a:solidFill>
            <a:srgbClr val="FF6A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7280" y="3931920"/>
            <a:ext cx="109728" cy="109728"/>
          </a:xfrm>
          <a:prstGeom prst="ellipse">
            <a:avLst/>
          </a:prstGeom>
          <a:solidFill>
            <a:srgbClr val="FF6A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</a:t>
            </a: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구체화 — Before / After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2일차 도출 문제점 기반 화면 개선안 + 교구 디자인 구체화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4023360" cy="3840480"/>
          </a:xfrm>
          <a:prstGeom prst="roundRect">
            <a:avLst>
              <a:gd name="adj" fmla="val 1905"/>
            </a:avLst>
          </a:prstGeom>
          <a:solidFill>
            <a:srgbClr val="FFF5F0"/>
          </a:solidFill>
          <a:ln w="15240">
            <a:solidFill>
              <a:srgbClr val="FFAA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4023360" cy="365760"/>
          </a:xfrm>
          <a:prstGeom prst="rect">
            <a:avLst/>
          </a:prstGeom>
          <a:solidFill>
            <a:srgbClr val="FFAA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20624" y="1005840"/>
            <a:ext cx="3877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17904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AA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5179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랜딩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00200" y="149047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6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나열 / 정체성 불명확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066544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AA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20665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관제실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00200" y="203911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6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차시 전체 나열 / 압도감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615184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AA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" y="26151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00200" y="258775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6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반응형 없음 / 버튼 겹침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163824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AA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02920" y="31638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 코딩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00200" y="313639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6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진입 버튼 불명확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712464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AA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2920" y="3712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발사대 외형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00200" y="368503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6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박스형 / 내부 빈 공간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261104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AA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02920" y="42611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알비 마감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00200" y="423367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6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적층감 / 배선 노출</a:t>
            </a:r>
            <a:endParaRPr lang="en-US" sz="11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2670048"/>
            <a:ext cx="347472" cy="347472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4773168" y="1005840"/>
            <a:ext cx="4023360" cy="3840480"/>
          </a:xfrm>
          <a:prstGeom prst="roundRect">
            <a:avLst>
              <a:gd name="adj" fmla="val 1905"/>
            </a:avLst>
          </a:prstGeom>
          <a:solidFill>
            <a:srgbClr val="F0FFF4"/>
          </a:solidFill>
          <a:ln w="15240">
            <a:solidFill>
              <a:srgbClr val="66CC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4773168" y="1005840"/>
            <a:ext cx="4023360" cy="365760"/>
          </a:xfrm>
          <a:prstGeom prst="rect">
            <a:avLst/>
          </a:prstGeom>
          <a:solidFill>
            <a:srgbClr val="66CC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4846320" y="1005840"/>
            <a:ext cx="3877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919472" y="1517904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66CC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4919472" y="15179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랜딩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016752" y="149047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6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스토리 Hero + 탐사 시작 CTA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919472" y="2066544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66CC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4919472" y="20665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관제실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016752" y="203911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6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미션 카드 중심화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919472" y="2615184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66CC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4919472" y="26151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016752" y="258775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6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하단 4탭 + safe-area 대응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919472" y="3163824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66CC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4919472" y="31638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 코딩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016752" y="313639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6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아이콘+텍스트 + 온보딩 투어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919472" y="3712464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66CC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4919472" y="3712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발사대 외형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016752" y="368503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6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슬림 박스형 + 스티커 그래픽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919472" y="4261104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66CC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/>
          <p:nvPr/>
        </p:nvSpPr>
        <p:spPr>
          <a:xfrm>
            <a:off x="4919472" y="42611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알비 마감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016752" y="423367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6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Metallic Blue PLA + 케이블 홈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</a:t>
            </a: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스티커 제작 방향 설정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스티커 = 장식이 아닌 기능적 그래픽 — 모듈명·조작 방향·경고·미션 의미 전달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4251960" cy="1938528"/>
          </a:xfrm>
          <a:prstGeom prst="roundRect">
            <a:avLst>
              <a:gd name="adj" fmla="val 3774"/>
            </a:avLst>
          </a:prstGeom>
          <a:solidFill>
            <a:srgbClr val="F5F6F8"/>
          </a:solidFill>
          <a:ln w="15240">
            <a:solidFill>
              <a:srgbClr val="0D1117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84632" y="1115568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84632" y="11155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제품명·모듈명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12064" y="1645920"/>
            <a:ext cx="91440" cy="91440"/>
          </a:xfrm>
          <a:prstGeom prst="ellipse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76656" y="153619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12064" y="1956816"/>
            <a:ext cx="91440" cy="91440"/>
          </a:xfrm>
          <a:prstGeom prst="ellipse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76656" y="184708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2064" y="2267712"/>
            <a:ext cx="91440" cy="91440"/>
          </a:xfrm>
          <a:prstGeom prst="ellipse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76656" y="215798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ALBI CART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2064" y="2578608"/>
            <a:ext cx="91440" cy="91440"/>
          </a:xfrm>
          <a:prstGeom prst="ellipse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76656" y="246888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LAUNCH-01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2064" y="2889504"/>
            <a:ext cx="91440" cy="91440"/>
          </a:xfrm>
          <a:prstGeom prst="ellipse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76656" y="277977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SIGNAL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2064" y="3200400"/>
            <a:ext cx="91440" cy="91440"/>
          </a:xfrm>
          <a:prstGeom prst="ellipse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76656" y="309067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RPS MODE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82312" y="1005840"/>
            <a:ext cx="4251960" cy="1938528"/>
          </a:xfrm>
          <a:prstGeom prst="roundRect">
            <a:avLst>
              <a:gd name="adj" fmla="val 3774"/>
            </a:avLst>
          </a:prstGeom>
          <a:solidFill>
            <a:srgbClr val="F5F6F8"/>
          </a:solidFill>
          <a:ln w="15240">
            <a:solidFill>
              <a:srgbClr val="FF6A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919472" y="1115568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919472" y="11155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조작 방향·경고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46904" y="1645920"/>
            <a:ext cx="91440" cy="914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111496" y="153619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LAUNCH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46904" y="1956816"/>
            <a:ext cx="91440" cy="914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111496" y="184708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POWER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46904" y="2267712"/>
            <a:ext cx="91440" cy="914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111496" y="215798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CAUTION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46904" y="2578608"/>
            <a:ext cx="91440" cy="914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111496" y="246888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LEFT / RIGHT →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46904" y="2889504"/>
            <a:ext cx="91440" cy="914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111496" y="277977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STOP  ○ GO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7472" y="3072384"/>
            <a:ext cx="4251960" cy="1938528"/>
          </a:xfrm>
          <a:prstGeom prst="roundRect">
            <a:avLst>
              <a:gd name="adj" fmla="val 3774"/>
            </a:avLst>
          </a:prstGeom>
          <a:solidFill>
            <a:srgbClr val="F5F6F8"/>
          </a:solidFill>
          <a:ln w="15240">
            <a:solidFill>
              <a:srgbClr val="1F6FA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84632" y="3182112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84632" y="31821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미션 아이콘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12064" y="3712464"/>
            <a:ext cx="91440" cy="91440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76656" y="360273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로켓 발사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12064" y="4023360"/>
            <a:ext cx="91440" cy="91440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76656" y="391363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🛸 탐사 임무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12064" y="4334256"/>
            <a:ext cx="91440" cy="91440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76656" y="422452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정지 신호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12064" y="4645152"/>
            <a:ext cx="91440" cy="91440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76656" y="453542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 가위 / ✊ 바위 / ✋ 보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12064" y="4956048"/>
            <a:ext cx="91440" cy="91440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76656" y="484632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신호 수신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82312" y="3072384"/>
            <a:ext cx="4251960" cy="1938528"/>
          </a:xfrm>
          <a:prstGeom prst="roundRect">
            <a:avLst>
              <a:gd name="adj" fmla="val 3774"/>
            </a:avLst>
          </a:prstGeom>
          <a:solidFill>
            <a:srgbClr val="F5F6F8"/>
          </a:solidFill>
          <a:ln w="15240">
            <a:solidFill>
              <a:srgbClr val="4A515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4919472" y="3182112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919472" y="31821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알비 캐릭터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946904" y="3712464"/>
            <a:ext cx="91440" cy="91440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111496" y="360273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감정 아이콘 (기쁨/놀람/집중)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946904" y="4023360"/>
            <a:ext cx="91440" cy="91440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5111496" y="391363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시리얼 번호 MARS-01~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946904" y="4334256"/>
            <a:ext cx="91440" cy="91440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5111496" y="422452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ALBI 로고 타입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946904" y="4645152"/>
            <a:ext cx="91440" cy="91440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5111496" y="453542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커스터마이징 영역 (학생 스티커)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47472" y="4407408"/>
            <a:ext cx="8449056" cy="548640"/>
          </a:xfrm>
          <a:prstGeom prst="roundRect">
            <a:avLst>
              <a:gd name="adj" fmla="val 13333"/>
            </a:avLst>
          </a:prstGeom>
          <a:solidFill>
            <a:srgbClr val="E8EBF0"/>
          </a:solidFill>
          <a:ln w="12700">
            <a:solidFill>
              <a:srgbClr val="0D1117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502920" y="44622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프린팅 검토 기준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2606040" y="4462272"/>
            <a:ext cx="608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지지대 최소화 구조  ·  출력 방향 검토  ·  나사 체결 여부 결정  ·  후가공 필요 부위 확인  ·  분할 출력 여부 결정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F6A00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수업 상황 기반 통합 사용성 테스트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 서비스 → 실물 교구 → 수업 흐름 → 개선 기록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274320" cy="27432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3886200"/>
            <a:ext cx="182880" cy="182880"/>
          </a:xfrm>
          <a:prstGeom prst="ellipse">
            <a:avLst/>
          </a:prstGeom>
          <a:solidFill>
            <a:srgbClr val="FF6A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7280" y="3931920"/>
            <a:ext cx="109728" cy="109728"/>
          </a:xfrm>
          <a:prstGeom prst="ellipse">
            <a:avLst/>
          </a:prstGeom>
          <a:solidFill>
            <a:srgbClr val="FF6A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</a:t>
            </a: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사용성 테스트 플로우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역할 → 교사 역할 → 수업 흐름 → 오류 기록 — 휴대폰·태블릿·PC 병행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2029968" cy="621792"/>
          </a:xfrm>
          <a:prstGeom prst="roundRect">
            <a:avLst>
              <a:gd name="adj" fmla="val 11765"/>
            </a:avLst>
          </a:prstGeom>
          <a:solidFill>
            <a:srgbClr val="1F6FAE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15568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7824" y="10424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77824" y="12984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 서비스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72" y="1664208"/>
            <a:ext cx="2029968" cy="3218688"/>
          </a:xfrm>
          <a:prstGeom prst="roundRect">
            <a:avLst>
              <a:gd name="adj" fmla="val 2703"/>
            </a:avLst>
          </a:prstGeom>
          <a:solidFill>
            <a:srgbClr val="F5F6F8"/>
          </a:solidFill>
          <a:ln w="9525">
            <a:solidFill>
              <a:srgbClr val="1F6FA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5488" y="177393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75488" y="17739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86384" y="1746504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랜딩 접속·로그인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" y="225856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475488" y="2258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86384" y="2231136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차시·미션 선택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5488" y="274320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475488" y="2743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86384" y="271576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 코딩 작성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" y="322783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475488" y="3227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86384" y="32004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시뮬레이션 실행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5488" y="371246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475488" y="3712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86384" y="368503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도움 사용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5488" y="419709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475488" y="41970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86384" y="4169664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기기 점검 확인</a:t>
            </a:r>
            <a:endParaRPr lang="en-US" sz="10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576" y="2560320"/>
            <a:ext cx="256032" cy="256032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2523744" y="1005840"/>
            <a:ext cx="2029968" cy="621792"/>
          </a:xfrm>
          <a:prstGeom prst="roundRect">
            <a:avLst>
              <a:gd name="adj" fmla="val 11765"/>
            </a:avLst>
          </a:prstGeom>
          <a:solidFill>
            <a:srgbClr val="FF6A0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3472" y="1115568"/>
            <a:ext cx="402336" cy="40233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054096" y="10424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3054096" y="12984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실물 교구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2523744" y="1664208"/>
            <a:ext cx="2029968" cy="3218688"/>
          </a:xfrm>
          <a:prstGeom prst="roundRect">
            <a:avLst>
              <a:gd name="adj" fmla="val 2703"/>
            </a:avLst>
          </a:prstGeom>
          <a:solidFill>
            <a:srgbClr val="F5F6F8"/>
          </a:solidFill>
          <a:ln w="9525">
            <a:solidFill>
              <a:srgbClr val="FF6A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8"/>
          <p:cNvSpPr/>
          <p:nvPr/>
        </p:nvSpPr>
        <p:spPr>
          <a:xfrm>
            <a:off x="2651760" y="177393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9"/>
          <p:cNvSpPr/>
          <p:nvPr/>
        </p:nvSpPr>
        <p:spPr>
          <a:xfrm>
            <a:off x="2651760" y="17739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2962656" y="1746504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교구 조립 순서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2651760" y="225856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2"/>
          <p:cNvSpPr/>
          <p:nvPr/>
        </p:nvSpPr>
        <p:spPr>
          <a:xfrm>
            <a:off x="2651760" y="2258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2962656" y="2231136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 교체 테스트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2651760" y="274320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5"/>
          <p:cNvSpPr/>
          <p:nvPr/>
        </p:nvSpPr>
        <p:spPr>
          <a:xfrm>
            <a:off x="2651760" y="2743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2962656" y="271576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스티커 가독성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2651760" y="322783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8"/>
          <p:cNvSpPr/>
          <p:nvPr/>
        </p:nvSpPr>
        <p:spPr>
          <a:xfrm>
            <a:off x="2651760" y="3227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44" name="Text 39"/>
          <p:cNvSpPr/>
          <p:nvPr/>
        </p:nvSpPr>
        <p:spPr>
          <a:xfrm>
            <a:off x="2962656" y="32004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발사장치 작동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2651760" y="371246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1"/>
          <p:cNvSpPr/>
          <p:nvPr/>
        </p:nvSpPr>
        <p:spPr>
          <a:xfrm>
            <a:off x="2651760" y="3712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47" name="Text 42"/>
          <p:cNvSpPr/>
          <p:nvPr/>
        </p:nvSpPr>
        <p:spPr>
          <a:xfrm>
            <a:off x="2962656" y="368503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알비카트 주행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2651760" y="419709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4"/>
          <p:cNvSpPr/>
          <p:nvPr/>
        </p:nvSpPr>
        <p:spPr>
          <a:xfrm>
            <a:off x="2651760" y="41970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50" name="Text 45"/>
          <p:cNvSpPr/>
          <p:nvPr/>
        </p:nvSpPr>
        <p:spPr>
          <a:xfrm>
            <a:off x="2962656" y="4169664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겸용 모듈 아크릴</a:t>
            </a:r>
            <a:endParaRPr lang="en-US" sz="1000" dirty="0"/>
          </a:p>
        </p:txBody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2560320"/>
            <a:ext cx="256032" cy="256032"/>
          </a:xfrm>
          <a:prstGeom prst="rect">
            <a:avLst/>
          </a:prstGeom>
        </p:spPr>
      </p:pic>
      <p:sp>
        <p:nvSpPr>
          <p:cNvPr id="52" name="Shape 46"/>
          <p:cNvSpPr/>
          <p:nvPr/>
        </p:nvSpPr>
        <p:spPr>
          <a:xfrm>
            <a:off x="4700016" y="1005840"/>
            <a:ext cx="2029968" cy="621792"/>
          </a:xfrm>
          <a:prstGeom prst="roundRect">
            <a:avLst>
              <a:gd name="adj" fmla="val 11765"/>
            </a:avLst>
          </a:prstGeom>
          <a:solidFill>
            <a:srgbClr val="4A515C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1115568"/>
            <a:ext cx="402336" cy="402336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5230368" y="10424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55" name="Text 48"/>
          <p:cNvSpPr/>
          <p:nvPr/>
        </p:nvSpPr>
        <p:spPr>
          <a:xfrm>
            <a:off x="5230368" y="12984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흐름</a:t>
            </a:r>
            <a:endParaRPr lang="en-US" sz="1100" dirty="0"/>
          </a:p>
        </p:txBody>
      </p:sp>
      <p:sp>
        <p:nvSpPr>
          <p:cNvPr id="56" name="Shape 49"/>
          <p:cNvSpPr/>
          <p:nvPr/>
        </p:nvSpPr>
        <p:spPr>
          <a:xfrm>
            <a:off x="4700016" y="1664208"/>
            <a:ext cx="2029968" cy="3218688"/>
          </a:xfrm>
          <a:prstGeom prst="roundRect">
            <a:avLst>
              <a:gd name="adj" fmla="val 2703"/>
            </a:avLst>
          </a:prstGeom>
          <a:solidFill>
            <a:srgbClr val="F5F6F8"/>
          </a:solidFill>
          <a:ln w="9525">
            <a:solidFill>
              <a:srgbClr val="4A515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0"/>
          <p:cNvSpPr/>
          <p:nvPr/>
        </p:nvSpPr>
        <p:spPr>
          <a:xfrm>
            <a:off x="4828032" y="177393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1"/>
          <p:cNvSpPr/>
          <p:nvPr/>
        </p:nvSpPr>
        <p:spPr>
          <a:xfrm>
            <a:off x="4828032" y="17739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59" name="Text 52"/>
          <p:cNvSpPr/>
          <p:nvPr/>
        </p:nvSpPr>
        <p:spPr>
          <a:xfrm>
            <a:off x="5138928" y="1746504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안내 → 조립</a:t>
            </a:r>
            <a:endParaRPr lang="en-US" sz="1000" dirty="0"/>
          </a:p>
        </p:txBody>
      </p:sp>
      <p:sp>
        <p:nvSpPr>
          <p:cNvPr id="60" name="Shape 53"/>
          <p:cNvSpPr/>
          <p:nvPr/>
        </p:nvSpPr>
        <p:spPr>
          <a:xfrm>
            <a:off x="4828032" y="225856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4"/>
          <p:cNvSpPr/>
          <p:nvPr/>
        </p:nvSpPr>
        <p:spPr>
          <a:xfrm>
            <a:off x="4828032" y="2258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2" name="Text 55"/>
          <p:cNvSpPr/>
          <p:nvPr/>
        </p:nvSpPr>
        <p:spPr>
          <a:xfrm>
            <a:off x="5138928" y="2231136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실행 → 실물 반응</a:t>
            </a:r>
            <a:endParaRPr lang="en-US" sz="1000" dirty="0"/>
          </a:p>
        </p:txBody>
      </p:sp>
      <p:sp>
        <p:nvSpPr>
          <p:cNvPr id="63" name="Shape 56"/>
          <p:cNvSpPr/>
          <p:nvPr/>
        </p:nvSpPr>
        <p:spPr>
          <a:xfrm>
            <a:off x="4828032" y="274320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7"/>
          <p:cNvSpPr/>
          <p:nvPr/>
        </p:nvSpPr>
        <p:spPr>
          <a:xfrm>
            <a:off x="4828032" y="2743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5" name="Text 58"/>
          <p:cNvSpPr/>
          <p:nvPr/>
        </p:nvSpPr>
        <p:spPr>
          <a:xfrm>
            <a:off x="5138928" y="271576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흐름 단절 지점 확인</a:t>
            </a:r>
            <a:endParaRPr lang="en-US" sz="1000" dirty="0"/>
          </a:p>
        </p:txBody>
      </p:sp>
      <p:sp>
        <p:nvSpPr>
          <p:cNvPr id="66" name="Shape 59"/>
          <p:cNvSpPr/>
          <p:nvPr/>
        </p:nvSpPr>
        <p:spPr>
          <a:xfrm>
            <a:off x="4828032" y="322783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0"/>
          <p:cNvSpPr/>
          <p:nvPr/>
        </p:nvSpPr>
        <p:spPr>
          <a:xfrm>
            <a:off x="4828032" y="3227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8" name="Text 61"/>
          <p:cNvSpPr/>
          <p:nvPr/>
        </p:nvSpPr>
        <p:spPr>
          <a:xfrm>
            <a:off x="5138928" y="32004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 관리 편의성</a:t>
            </a:r>
            <a:endParaRPr lang="en-US" sz="1000" dirty="0"/>
          </a:p>
        </p:txBody>
      </p:sp>
      <p:sp>
        <p:nvSpPr>
          <p:cNvPr id="69" name="Shape 62"/>
          <p:cNvSpPr/>
          <p:nvPr/>
        </p:nvSpPr>
        <p:spPr>
          <a:xfrm>
            <a:off x="4828032" y="371246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3"/>
          <p:cNvSpPr/>
          <p:nvPr/>
        </p:nvSpPr>
        <p:spPr>
          <a:xfrm>
            <a:off x="4828032" y="3712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71" name="Text 64"/>
          <p:cNvSpPr/>
          <p:nvPr/>
        </p:nvSpPr>
        <p:spPr>
          <a:xfrm>
            <a:off x="5138928" y="368503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 발생 시 대응</a:t>
            </a:r>
            <a:endParaRPr lang="en-US" sz="1000" dirty="0"/>
          </a:p>
        </p:txBody>
      </p:sp>
      <p:pic>
        <p:nvPicPr>
          <p:cNvPr id="7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560320"/>
            <a:ext cx="256032" cy="256032"/>
          </a:xfrm>
          <a:prstGeom prst="rect">
            <a:avLst/>
          </a:prstGeom>
        </p:spPr>
      </p:pic>
      <p:sp>
        <p:nvSpPr>
          <p:cNvPr id="73" name="Shape 65"/>
          <p:cNvSpPr/>
          <p:nvPr/>
        </p:nvSpPr>
        <p:spPr>
          <a:xfrm>
            <a:off x="6876288" y="1005840"/>
            <a:ext cx="2029968" cy="621792"/>
          </a:xfrm>
          <a:prstGeom prst="roundRect">
            <a:avLst>
              <a:gd name="adj" fmla="val 11765"/>
            </a:avLst>
          </a:prstGeom>
          <a:solidFill>
            <a:srgbClr val="0D1117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6016" y="1115568"/>
            <a:ext cx="402336" cy="402336"/>
          </a:xfrm>
          <a:prstGeom prst="rect">
            <a:avLst/>
          </a:prstGeom>
        </p:spPr>
      </p:pic>
      <p:sp>
        <p:nvSpPr>
          <p:cNvPr id="75" name="Text 66"/>
          <p:cNvSpPr/>
          <p:nvPr/>
        </p:nvSpPr>
        <p:spPr>
          <a:xfrm>
            <a:off x="7406640" y="10424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76" name="Text 67"/>
          <p:cNvSpPr/>
          <p:nvPr/>
        </p:nvSpPr>
        <p:spPr>
          <a:xfrm>
            <a:off x="7406640" y="12984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기록</a:t>
            </a:r>
            <a:endParaRPr lang="en-US" sz="1100" dirty="0"/>
          </a:p>
        </p:txBody>
      </p:sp>
      <p:sp>
        <p:nvSpPr>
          <p:cNvPr id="77" name="Shape 68"/>
          <p:cNvSpPr/>
          <p:nvPr/>
        </p:nvSpPr>
        <p:spPr>
          <a:xfrm>
            <a:off x="6876288" y="1664208"/>
            <a:ext cx="2029968" cy="3218688"/>
          </a:xfrm>
          <a:prstGeom prst="roundRect">
            <a:avLst>
              <a:gd name="adj" fmla="val 2703"/>
            </a:avLst>
          </a:prstGeom>
          <a:solidFill>
            <a:srgbClr val="F5F6F8"/>
          </a:solidFill>
          <a:ln w="9525">
            <a:solidFill>
              <a:srgbClr val="0D1117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69"/>
          <p:cNvSpPr/>
          <p:nvPr/>
        </p:nvSpPr>
        <p:spPr>
          <a:xfrm>
            <a:off x="7004304" y="177393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0"/>
          <p:cNvSpPr/>
          <p:nvPr/>
        </p:nvSpPr>
        <p:spPr>
          <a:xfrm>
            <a:off x="7004304" y="17739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80" name="Text 71"/>
          <p:cNvSpPr/>
          <p:nvPr/>
        </p:nvSpPr>
        <p:spPr>
          <a:xfrm>
            <a:off x="7315200" y="1746504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 사진 촬영</a:t>
            </a:r>
            <a:endParaRPr lang="en-US" sz="1000" dirty="0"/>
          </a:p>
        </p:txBody>
      </p:sp>
      <p:sp>
        <p:nvSpPr>
          <p:cNvPr id="81" name="Shape 72"/>
          <p:cNvSpPr/>
          <p:nvPr/>
        </p:nvSpPr>
        <p:spPr>
          <a:xfrm>
            <a:off x="7004304" y="225856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Text 73"/>
          <p:cNvSpPr/>
          <p:nvPr/>
        </p:nvSpPr>
        <p:spPr>
          <a:xfrm>
            <a:off x="7004304" y="2258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3" name="Text 74"/>
          <p:cNvSpPr/>
          <p:nvPr/>
        </p:nvSpPr>
        <p:spPr>
          <a:xfrm>
            <a:off x="7315200" y="2231136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헷갈리는 표현 메모</a:t>
            </a:r>
            <a:endParaRPr lang="en-US" sz="1000" dirty="0"/>
          </a:p>
        </p:txBody>
      </p:sp>
      <p:sp>
        <p:nvSpPr>
          <p:cNvPr id="84" name="Shape 75"/>
          <p:cNvSpPr/>
          <p:nvPr/>
        </p:nvSpPr>
        <p:spPr>
          <a:xfrm>
            <a:off x="7004304" y="274320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" name="Text 76"/>
          <p:cNvSpPr/>
          <p:nvPr/>
        </p:nvSpPr>
        <p:spPr>
          <a:xfrm>
            <a:off x="7004304" y="2743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86" name="Text 77"/>
          <p:cNvSpPr/>
          <p:nvPr/>
        </p:nvSpPr>
        <p:spPr>
          <a:xfrm>
            <a:off x="7315200" y="271576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스티커 위치 재확인</a:t>
            </a:r>
            <a:endParaRPr lang="en-US" sz="1000" dirty="0"/>
          </a:p>
        </p:txBody>
      </p:sp>
      <p:sp>
        <p:nvSpPr>
          <p:cNvPr id="87" name="Shape 78"/>
          <p:cNvSpPr/>
          <p:nvPr/>
        </p:nvSpPr>
        <p:spPr>
          <a:xfrm>
            <a:off x="7004304" y="322783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Text 79"/>
          <p:cNvSpPr/>
          <p:nvPr/>
        </p:nvSpPr>
        <p:spPr>
          <a:xfrm>
            <a:off x="7004304" y="3227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89" name="Text 80"/>
          <p:cNvSpPr/>
          <p:nvPr/>
        </p:nvSpPr>
        <p:spPr>
          <a:xfrm>
            <a:off x="7315200" y="32004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출력물 보강 지점</a:t>
            </a:r>
            <a:endParaRPr lang="en-US" sz="1000" dirty="0"/>
          </a:p>
        </p:txBody>
      </p:sp>
      <p:sp>
        <p:nvSpPr>
          <p:cNvPr id="90" name="Shape 81"/>
          <p:cNvSpPr/>
          <p:nvPr/>
        </p:nvSpPr>
        <p:spPr>
          <a:xfrm>
            <a:off x="7004304" y="371246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2"/>
          <p:cNvSpPr/>
          <p:nvPr/>
        </p:nvSpPr>
        <p:spPr>
          <a:xfrm>
            <a:off x="7004304" y="3712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92" name="Text 83"/>
          <p:cNvSpPr/>
          <p:nvPr/>
        </p:nvSpPr>
        <p:spPr>
          <a:xfrm>
            <a:off x="7315200" y="368503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UI 수정점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</a:t>
            </a: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흐름 연결성 점검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안내 → 조립 → 코드 실행 → 실물 반응 흐름이 끊기지 않는지 확인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96112" y="1005840"/>
            <a:ext cx="713232" cy="713232"/>
          </a:xfrm>
          <a:prstGeom prst="ellipse">
            <a:avLst/>
          </a:prstGeom>
          <a:solidFill>
            <a:srgbClr val="1F6FAE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042416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안내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47472" y="213969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교사가 학습 관제실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미션 설명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8528" y="1298448"/>
            <a:ext cx="201168" cy="2011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615184" y="1005840"/>
            <a:ext cx="713232" cy="713232"/>
          </a:xfrm>
          <a:prstGeom prst="ellipse">
            <a:avLst/>
          </a:prstGeom>
          <a:solidFill>
            <a:srgbClr val="FF6A0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1042416"/>
            <a:ext cx="640080" cy="640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066544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교구 조립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2066544" y="213969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학생이 모듈 조립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(3분 이내 목표)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298448"/>
            <a:ext cx="201168" cy="20116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334256" y="1005840"/>
            <a:ext cx="713232" cy="713232"/>
          </a:xfrm>
          <a:prstGeom prst="ellipse">
            <a:avLst/>
          </a:prstGeom>
          <a:solidFill>
            <a:srgbClr val="4A515C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0832" y="1042416"/>
            <a:ext cx="640080" cy="6400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85616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작성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3785616" y="213969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 코딩 에디터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미션 코드 완성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1298448"/>
            <a:ext cx="201168" cy="201168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053328" y="1005840"/>
            <a:ext cx="713232" cy="713232"/>
          </a:xfrm>
          <a:prstGeom prst="ellipse">
            <a:avLst/>
          </a:prstGeom>
          <a:solidFill>
            <a:srgbClr val="0D1117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9904" y="1042416"/>
            <a:ext cx="640080" cy="6400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504688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시뮬 확인</a:t>
            </a:r>
            <a:endParaRPr lang="en-US" sz="1200" dirty="0"/>
          </a:p>
        </p:txBody>
      </p:sp>
      <p:sp>
        <p:nvSpPr>
          <p:cNvPr id="22" name="Text 13"/>
          <p:cNvSpPr/>
          <p:nvPr/>
        </p:nvSpPr>
        <p:spPr>
          <a:xfrm>
            <a:off x="5504688" y="213969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시뮬레이션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시각화</a:t>
            </a:r>
            <a:endParaRPr lang="en-US" sz="10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4" y="1298448"/>
            <a:ext cx="201168" cy="201168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7772400" y="1005840"/>
            <a:ext cx="713232" cy="713232"/>
          </a:xfrm>
          <a:prstGeom prst="ellipse">
            <a:avLst/>
          </a:prstGeom>
          <a:solidFill>
            <a:srgbClr val="FF6A0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8976" y="1042416"/>
            <a:ext cx="640080" cy="64008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22376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실물 반응</a:t>
            </a:r>
            <a:endParaRPr lang="en-US" sz="1200" dirty="0"/>
          </a:p>
        </p:txBody>
      </p:sp>
      <p:sp>
        <p:nvSpPr>
          <p:cNvPr id="27" name="Text 16"/>
          <p:cNvSpPr/>
          <p:nvPr/>
        </p:nvSpPr>
        <p:spPr>
          <a:xfrm>
            <a:off x="7223760" y="213969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실물 교구 동작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성공 여부 확인</a:t>
            </a:r>
            <a:endParaRPr lang="en-US" sz="1000" dirty="0"/>
          </a:p>
        </p:txBody>
      </p:sp>
      <p:sp>
        <p:nvSpPr>
          <p:cNvPr id="28" name="Text 17"/>
          <p:cNvSpPr/>
          <p:nvPr/>
        </p:nvSpPr>
        <p:spPr>
          <a:xfrm>
            <a:off x="347472" y="2743200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점검 항목</a:t>
            </a:r>
            <a:endParaRPr lang="en-US" sz="1300" dirty="0"/>
          </a:p>
        </p:txBody>
      </p:sp>
      <p:sp>
        <p:nvSpPr>
          <p:cNvPr id="29" name="Shape 18"/>
          <p:cNvSpPr/>
          <p:nvPr/>
        </p:nvSpPr>
        <p:spPr>
          <a:xfrm>
            <a:off x="347472" y="3090672"/>
            <a:ext cx="84490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624" y="3136392"/>
            <a:ext cx="201168" cy="20116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94944" y="309067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단계 전환에 학생이 스스로 이동 가능한가?</a:t>
            </a:r>
            <a:endParaRPr lang="en-US" sz="1050" dirty="0"/>
          </a:p>
        </p:txBody>
      </p:sp>
      <p:sp>
        <p:nvSpPr>
          <p:cNvPr id="32" name="Shape 20"/>
          <p:cNvSpPr/>
          <p:nvPr/>
        </p:nvSpPr>
        <p:spPr>
          <a:xfrm>
            <a:off x="7717536" y="3108960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44AA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1"/>
          <p:cNvSpPr/>
          <p:nvPr/>
        </p:nvSpPr>
        <p:spPr>
          <a:xfrm>
            <a:off x="7717536" y="31089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PASS</a:t>
            </a:r>
            <a:endParaRPr lang="en-US" sz="900" dirty="0"/>
          </a:p>
        </p:txBody>
      </p:sp>
      <p:sp>
        <p:nvSpPr>
          <p:cNvPr id="34" name="Shape 22"/>
          <p:cNvSpPr/>
          <p:nvPr/>
        </p:nvSpPr>
        <p:spPr>
          <a:xfrm>
            <a:off x="347472" y="3419856"/>
            <a:ext cx="8449056" cy="292608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624" y="3465576"/>
            <a:ext cx="201168" cy="201168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694944" y="341985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실행 → 실물 반응이 5초 이내 확인되는가?</a:t>
            </a:r>
            <a:endParaRPr lang="en-US" sz="1050" dirty="0"/>
          </a:p>
        </p:txBody>
      </p:sp>
      <p:sp>
        <p:nvSpPr>
          <p:cNvPr id="37" name="Shape 24"/>
          <p:cNvSpPr/>
          <p:nvPr/>
        </p:nvSpPr>
        <p:spPr>
          <a:xfrm>
            <a:off x="7717536" y="3438144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44AA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5"/>
          <p:cNvSpPr/>
          <p:nvPr/>
        </p:nvSpPr>
        <p:spPr>
          <a:xfrm>
            <a:off x="7717536" y="34381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PASS</a:t>
            </a:r>
            <a:endParaRPr lang="en-US" sz="900" dirty="0"/>
          </a:p>
        </p:txBody>
      </p:sp>
      <p:sp>
        <p:nvSpPr>
          <p:cNvPr id="39" name="Shape 26"/>
          <p:cNvSpPr/>
          <p:nvPr/>
        </p:nvSpPr>
        <p:spPr>
          <a:xfrm>
            <a:off x="347472" y="3749040"/>
            <a:ext cx="84490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0624" y="3794760"/>
            <a:ext cx="201168" cy="201168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94944" y="374904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도움 버튼이 코딩 화면에서 항상 보이는가?</a:t>
            </a:r>
            <a:endParaRPr lang="en-US" sz="1050" dirty="0"/>
          </a:p>
        </p:txBody>
      </p:sp>
      <p:sp>
        <p:nvSpPr>
          <p:cNvPr id="42" name="Shape 28"/>
          <p:cNvSpPr/>
          <p:nvPr/>
        </p:nvSpPr>
        <p:spPr>
          <a:xfrm>
            <a:off x="7717536" y="3767328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29"/>
          <p:cNvSpPr/>
          <p:nvPr/>
        </p:nvSpPr>
        <p:spPr>
          <a:xfrm>
            <a:off x="7717536" y="37673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수정 필요</a:t>
            </a:r>
            <a:endParaRPr lang="en-US" sz="900" dirty="0"/>
          </a:p>
        </p:txBody>
      </p:sp>
      <p:sp>
        <p:nvSpPr>
          <p:cNvPr id="44" name="Shape 30"/>
          <p:cNvSpPr/>
          <p:nvPr/>
        </p:nvSpPr>
        <p:spPr>
          <a:xfrm>
            <a:off x="347472" y="4078224"/>
            <a:ext cx="8449056" cy="292608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0624" y="4123944"/>
            <a:ext cx="201168" cy="201168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694944" y="407822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교사가 학생 현황을 관제실에서 실시간 확인 가능한가?</a:t>
            </a:r>
            <a:endParaRPr lang="en-US" sz="1050" dirty="0"/>
          </a:p>
        </p:txBody>
      </p:sp>
      <p:sp>
        <p:nvSpPr>
          <p:cNvPr id="47" name="Shape 32"/>
          <p:cNvSpPr/>
          <p:nvPr/>
        </p:nvSpPr>
        <p:spPr>
          <a:xfrm>
            <a:off x="7717536" y="4096512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3"/>
          <p:cNvSpPr/>
          <p:nvPr/>
        </p:nvSpPr>
        <p:spPr>
          <a:xfrm>
            <a:off x="7717536" y="40965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수정 필요</a:t>
            </a:r>
            <a:endParaRPr lang="en-US" sz="900" dirty="0"/>
          </a:p>
        </p:txBody>
      </p:sp>
      <p:sp>
        <p:nvSpPr>
          <p:cNvPr id="49" name="Shape 34"/>
          <p:cNvSpPr/>
          <p:nvPr/>
        </p:nvSpPr>
        <p:spPr>
          <a:xfrm>
            <a:off x="347472" y="4407408"/>
            <a:ext cx="84490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0624" y="4453128"/>
            <a:ext cx="201168" cy="201168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694944" y="440740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 교체가 나사 없이 3분 이내 완료되는가?</a:t>
            </a:r>
            <a:endParaRPr lang="en-US" sz="1050" dirty="0"/>
          </a:p>
        </p:txBody>
      </p:sp>
      <p:sp>
        <p:nvSpPr>
          <p:cNvPr id="52" name="Shape 36"/>
          <p:cNvSpPr/>
          <p:nvPr/>
        </p:nvSpPr>
        <p:spPr>
          <a:xfrm>
            <a:off x="7717536" y="4425696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37"/>
          <p:cNvSpPr/>
          <p:nvPr/>
        </p:nvSpPr>
        <p:spPr>
          <a:xfrm>
            <a:off x="7717536" y="44256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수정 필요</a:t>
            </a:r>
            <a:endParaRPr lang="en-US" sz="900" dirty="0"/>
          </a:p>
        </p:txBody>
      </p:sp>
      <p:sp>
        <p:nvSpPr>
          <p:cNvPr id="54" name="Shape 38"/>
          <p:cNvSpPr/>
          <p:nvPr/>
        </p:nvSpPr>
        <p:spPr>
          <a:xfrm>
            <a:off x="347472" y="4736592"/>
            <a:ext cx="8449056" cy="292608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624" y="4782312"/>
            <a:ext cx="201168" cy="201168"/>
          </a:xfrm>
          <a:prstGeom prst="rect">
            <a:avLst/>
          </a:prstGeom>
        </p:spPr>
      </p:pic>
      <p:sp>
        <p:nvSpPr>
          <p:cNvPr id="56" name="Text 39"/>
          <p:cNvSpPr/>
          <p:nvPr/>
        </p:nvSpPr>
        <p:spPr>
          <a:xfrm>
            <a:off x="694944" y="473659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겸용 모듈 아크릴 교체가 수업 흐름 중 자연스러운가?</a:t>
            </a:r>
            <a:endParaRPr lang="en-US" sz="1050" dirty="0"/>
          </a:p>
        </p:txBody>
      </p:sp>
      <p:sp>
        <p:nvSpPr>
          <p:cNvPr id="57" name="Shape 40"/>
          <p:cNvSpPr/>
          <p:nvPr/>
        </p:nvSpPr>
        <p:spPr>
          <a:xfrm>
            <a:off x="7717536" y="4754880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44AA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1"/>
          <p:cNvSpPr/>
          <p:nvPr/>
        </p:nvSpPr>
        <p:spPr>
          <a:xfrm>
            <a:off x="7717536" y="47548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PASS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F6A00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보완 · 제작 가이드 · 운영 매뉴얼 정리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반영 → 제작 가이드 → 운영 매뉴얼 → 사진 기록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274320" cy="27432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3886200"/>
            <a:ext cx="182880" cy="182880"/>
          </a:xfrm>
          <a:prstGeom prst="ellipse">
            <a:avLst/>
          </a:prstGeom>
          <a:solidFill>
            <a:srgbClr val="FF6A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7280" y="3931920"/>
            <a:ext cx="109728" cy="109728"/>
          </a:xfrm>
          <a:prstGeom prst="ellipse">
            <a:avLst/>
          </a:prstGeom>
          <a:solidFill>
            <a:srgbClr val="FF6A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</a:t>
            </a: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보완 &amp; 산출물 패키지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별도 발표 없이 제작·운영 기준 자료로 정리 — 이후 ProgressReport 기반 활용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4251960" cy="1938528"/>
          </a:xfrm>
          <a:prstGeom prst="roundRect">
            <a:avLst>
              <a:gd name="adj" fmla="val 3774"/>
            </a:avLst>
          </a:prstGeom>
          <a:solidFill>
            <a:srgbClr val="F5F6F8"/>
          </a:solidFill>
          <a:ln w="15240">
            <a:solidFill>
              <a:srgbClr val="1F6FA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" cy="530352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216152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225296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UX/UI 개선안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47088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18196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랜딩 페이지 개선 시안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121408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672" y="20939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관제실 화면 개선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95728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4672" y="23682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반응형 가이드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70048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04672" y="26426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도움 플로팅 버튼 배치</a:t>
            </a:r>
            <a:endParaRPr lang="en-US" sz="1050" dirty="0"/>
          </a:p>
        </p:txBody>
      </p:sp>
      <p:sp>
        <p:nvSpPr>
          <p:cNvPr id="16" name="Shape 9"/>
          <p:cNvSpPr/>
          <p:nvPr/>
        </p:nvSpPr>
        <p:spPr>
          <a:xfrm>
            <a:off x="4782312" y="1005840"/>
            <a:ext cx="4251960" cy="1938528"/>
          </a:xfrm>
          <a:prstGeom prst="roundRect">
            <a:avLst>
              <a:gd name="adj" fmla="val 3774"/>
            </a:avLst>
          </a:prstGeom>
          <a:solidFill>
            <a:srgbClr val="F5F6F8"/>
          </a:solidFill>
          <a:ln w="15240">
            <a:solidFill>
              <a:srgbClr val="FF6A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0"/>
          <p:cNvSpPr/>
          <p:nvPr/>
        </p:nvSpPr>
        <p:spPr>
          <a:xfrm>
            <a:off x="4983480" y="1188720"/>
            <a:ext cx="530352" cy="530352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1216152"/>
            <a:ext cx="475488" cy="4754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641848" y="1225296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프린팅 제작 가이드</a:t>
            </a:r>
            <a:endParaRPr lang="en-US" sz="14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847088"/>
            <a:ext cx="182880" cy="1828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39512" y="18196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파트 목록 &amp; 방향</a:t>
            </a:r>
            <a:endParaRPr lang="en-US" sz="10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121408"/>
            <a:ext cx="182880" cy="18288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239512" y="20939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재질 (PLA 종류별)</a:t>
            </a:r>
            <a:endParaRPr lang="en-US" sz="105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395728"/>
            <a:ext cx="182880" cy="18288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239512" y="23682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결합 구조 &amp; 나사 여부</a:t>
            </a:r>
            <a:endParaRPr lang="en-US" sz="105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670048"/>
            <a:ext cx="182880" cy="18288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239512" y="26426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스티커 크기 &amp; 부착 위치</a:t>
            </a:r>
            <a:endParaRPr lang="en-US" sz="1050" dirty="0"/>
          </a:p>
        </p:txBody>
      </p:sp>
      <p:sp>
        <p:nvSpPr>
          <p:cNvPr id="28" name="Shape 16"/>
          <p:cNvSpPr/>
          <p:nvPr/>
        </p:nvSpPr>
        <p:spPr>
          <a:xfrm>
            <a:off x="347472" y="3072384"/>
            <a:ext cx="4251960" cy="1938528"/>
          </a:xfrm>
          <a:prstGeom prst="roundRect">
            <a:avLst>
              <a:gd name="adj" fmla="val 3774"/>
            </a:avLst>
          </a:prstGeom>
          <a:solidFill>
            <a:srgbClr val="F5F6F8"/>
          </a:solidFill>
          <a:ln w="15240">
            <a:solidFill>
              <a:srgbClr val="4A515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17"/>
          <p:cNvSpPr/>
          <p:nvPr/>
        </p:nvSpPr>
        <p:spPr>
          <a:xfrm>
            <a:off x="548640" y="3255264"/>
            <a:ext cx="530352" cy="530352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3282696"/>
            <a:ext cx="475488" cy="475488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1207008" y="3291840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매뉴얼</a:t>
            </a:r>
            <a:endParaRPr lang="en-US" sz="14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13632"/>
            <a:ext cx="182880" cy="182880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804672" y="38862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학생용 조립 순서 체크리스트</a:t>
            </a:r>
            <a:endParaRPr lang="en-US" sz="1050" dirty="0"/>
          </a:p>
        </p:txBody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87952"/>
            <a:ext cx="182880" cy="182880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804672" y="41605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교사용 점검 항목</a:t>
            </a:r>
            <a:endParaRPr lang="en-US" sz="1050" dirty="0"/>
          </a:p>
        </p:txBody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62272"/>
            <a:ext cx="182880" cy="182880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804672" y="4434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중 오류 대응 가이드</a:t>
            </a:r>
            <a:endParaRPr lang="en-US" sz="105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36592"/>
            <a:ext cx="182880" cy="182880"/>
          </a:xfrm>
          <a:prstGeom prst="rect">
            <a:avLst/>
          </a:prstGeom>
        </p:spPr>
      </p:pic>
      <p:sp>
        <p:nvSpPr>
          <p:cNvPr id="39" name="Text 22"/>
          <p:cNvSpPr/>
          <p:nvPr/>
        </p:nvSpPr>
        <p:spPr>
          <a:xfrm>
            <a:off x="804672" y="47091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보관 및 재조립 방법</a:t>
            </a:r>
            <a:endParaRPr lang="en-US" sz="1050" dirty="0"/>
          </a:p>
        </p:txBody>
      </p:sp>
      <p:sp>
        <p:nvSpPr>
          <p:cNvPr id="40" name="Shape 23"/>
          <p:cNvSpPr/>
          <p:nvPr/>
        </p:nvSpPr>
        <p:spPr>
          <a:xfrm>
            <a:off x="4782312" y="3072384"/>
            <a:ext cx="4251960" cy="1938528"/>
          </a:xfrm>
          <a:prstGeom prst="roundRect">
            <a:avLst>
              <a:gd name="adj" fmla="val 3774"/>
            </a:avLst>
          </a:prstGeom>
          <a:solidFill>
            <a:srgbClr val="F5F6F8"/>
          </a:solidFill>
          <a:ln w="15240">
            <a:solidFill>
              <a:srgbClr val="0D1117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24"/>
          <p:cNvSpPr/>
          <p:nvPr/>
        </p:nvSpPr>
        <p:spPr>
          <a:xfrm>
            <a:off x="4983480" y="3255264"/>
            <a:ext cx="530352" cy="530352"/>
          </a:xfrm>
          <a:prstGeom prst="ellipse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0912" y="3282696"/>
            <a:ext cx="475488" cy="475488"/>
          </a:xfrm>
          <a:prstGeom prst="rect">
            <a:avLst/>
          </a:prstGeom>
        </p:spPr>
      </p:pic>
      <p:sp>
        <p:nvSpPr>
          <p:cNvPr id="43" name="Text 25"/>
          <p:cNvSpPr/>
          <p:nvPr/>
        </p:nvSpPr>
        <p:spPr>
          <a:xfrm>
            <a:off x="5641848" y="3291840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기록 패키지</a:t>
            </a:r>
            <a:endParaRPr lang="en-US" sz="1400" dirty="0"/>
          </a:p>
        </p:txBody>
      </p:sp>
      <p:pic>
        <p:nvPicPr>
          <p:cNvPr id="44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913632"/>
            <a:ext cx="182880" cy="182880"/>
          </a:xfrm>
          <a:prstGeom prst="rect">
            <a:avLst/>
          </a:prstGeom>
        </p:spPr>
      </p:pic>
      <p:sp>
        <p:nvSpPr>
          <p:cNvPr id="45" name="Text 26"/>
          <p:cNvSpPr/>
          <p:nvPr/>
        </p:nvSpPr>
        <p:spPr>
          <a:xfrm>
            <a:off x="5239512" y="38862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조립 전·후 비교 사진</a:t>
            </a:r>
            <a:endParaRPr lang="en-US" sz="1050" dirty="0"/>
          </a:p>
        </p:txBody>
      </p:sp>
      <p:pic>
        <p:nvPicPr>
          <p:cNvPr id="46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4187952"/>
            <a:ext cx="182880" cy="182880"/>
          </a:xfrm>
          <a:prstGeom prst="rect">
            <a:avLst/>
          </a:prstGeom>
        </p:spPr>
      </p:pic>
      <p:sp>
        <p:nvSpPr>
          <p:cNvPr id="47" name="Text 27"/>
          <p:cNvSpPr/>
          <p:nvPr/>
        </p:nvSpPr>
        <p:spPr>
          <a:xfrm>
            <a:off x="5239512" y="41605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개선 전·후 캡처</a:t>
            </a:r>
            <a:endParaRPr lang="en-US" sz="1050" dirty="0"/>
          </a:p>
        </p:txBody>
      </p:sp>
      <p:pic>
        <p:nvPicPr>
          <p:cNvPr id="48" name="Image 1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4462272"/>
            <a:ext cx="182880" cy="182880"/>
          </a:xfrm>
          <a:prstGeom prst="rect">
            <a:avLst/>
          </a:prstGeom>
        </p:spPr>
      </p:pic>
      <p:sp>
        <p:nvSpPr>
          <p:cNvPr id="49" name="Text 28"/>
          <p:cNvSpPr/>
          <p:nvPr/>
        </p:nvSpPr>
        <p:spPr>
          <a:xfrm>
            <a:off x="5239512" y="4434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스티커 적용 전·후</a:t>
            </a:r>
            <a:endParaRPr lang="en-US" sz="1050" dirty="0"/>
          </a:p>
        </p:txBody>
      </p:sp>
      <p:pic>
        <p:nvPicPr>
          <p:cNvPr id="50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4736592"/>
            <a:ext cx="182880" cy="182880"/>
          </a:xfrm>
          <a:prstGeom prst="rect">
            <a:avLst/>
          </a:prstGeom>
        </p:spPr>
      </p:pic>
      <p:sp>
        <p:nvSpPr>
          <p:cNvPr id="51" name="Text 29"/>
          <p:cNvSpPr/>
          <p:nvPr/>
        </p:nvSpPr>
        <p:spPr>
          <a:xfrm>
            <a:off x="5239512" y="47091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ProgressReport 첨부용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</a:t>
            </a: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콘셉트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 서비스와 실물 교구가 하나의 화성 탐사 수업 경험으로 이어지는 디자인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8449056" cy="841248"/>
          </a:xfrm>
          <a:prstGeom prst="roundRect">
            <a:avLst>
              <a:gd name="adj" fmla="val 8696"/>
            </a:avLst>
          </a:prstGeom>
          <a:solidFill>
            <a:srgbClr val="FFF3EB"/>
          </a:solidFill>
          <a:ln w="19050">
            <a:solidFill>
              <a:srgbClr val="FF6A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8284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"화성 탐사 미션을 따라가며 온라인 서비스와 실물 교구를 함께 완성하는 조립형 코딩 어드벤처"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7472" y="1993392"/>
            <a:ext cx="8449056" cy="566928"/>
          </a:xfrm>
          <a:prstGeom prst="roundRect">
            <a:avLst>
              <a:gd name="adj" fmla="val 12903"/>
            </a:avLst>
          </a:prstGeom>
          <a:solidFill>
            <a:srgbClr val="F5F6F8"/>
          </a:solidFill>
          <a:ln w="6350">
            <a:solidFill>
              <a:srgbClr val="FF6A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2048256"/>
            <a:ext cx="457200" cy="45720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075688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20482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화성 탐사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944368" y="2048256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주황색 화성 톤, 로켓·로버·기지·발사대 이미지 반영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2615184"/>
            <a:ext cx="8449056" cy="566928"/>
          </a:xfrm>
          <a:prstGeom prst="roundRect">
            <a:avLst>
              <a:gd name="adj" fmla="val 12903"/>
            </a:avLst>
          </a:prstGeom>
          <a:solidFill>
            <a:srgbClr val="F5F6F8"/>
          </a:solidFill>
          <a:ln w="6350">
            <a:solidFill>
              <a:srgbClr val="1F6FA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57200" y="2670048"/>
            <a:ext cx="457200" cy="457200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2697480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24128" y="26700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관제실 경험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944368" y="2670048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차시·미션·시뮬레이션·점검 화면이 연결되는 관제실 구성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47472" y="3236976"/>
            <a:ext cx="8449056" cy="566928"/>
          </a:xfrm>
          <a:prstGeom prst="roundRect">
            <a:avLst>
              <a:gd name="adj" fmla="val 12903"/>
            </a:avLst>
          </a:prstGeom>
          <a:solidFill>
            <a:srgbClr val="F5F6F8"/>
          </a:solidFill>
          <a:ln w="6350">
            <a:solidFill>
              <a:srgbClr val="4A515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57200" y="3291840"/>
            <a:ext cx="457200" cy="457200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31927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4128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조립형 제품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2944368" y="329184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프린터·교체형 부품·스티커 중심의 제작 가능성 강화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47472" y="3858768"/>
            <a:ext cx="8449056" cy="566928"/>
          </a:xfrm>
          <a:prstGeom prst="roundRect">
            <a:avLst>
              <a:gd name="adj" fmla="val 12903"/>
            </a:avLst>
          </a:prstGeom>
          <a:solidFill>
            <a:srgbClr val="F5F6F8"/>
          </a:solidFill>
          <a:ln w="6350">
            <a:solidFill>
              <a:srgbClr val="0D1117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457200" y="3913632"/>
            <a:ext cx="457200" cy="457200"/>
          </a:xfrm>
          <a:prstGeom prst="ellipse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3941064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24128" y="3913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친화성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2944368" y="3913632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버튼·아이콘·스티커·모듈명을 단순하고 명확하게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47472" y="4480560"/>
            <a:ext cx="8449056" cy="566928"/>
          </a:xfrm>
          <a:prstGeom prst="roundRect">
            <a:avLst>
              <a:gd name="adj" fmla="val 12903"/>
            </a:avLst>
          </a:prstGeom>
          <a:solidFill>
            <a:srgbClr val="F5F6F8"/>
          </a:solidFill>
          <a:ln w="6350">
            <a:solidFill>
              <a:srgbClr val="4A515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457200" y="4535424"/>
            <a:ext cx="457200" cy="457200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" y="456285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24128" y="45354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운영성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2944368" y="4535424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 설명 → 학생 수행 흐름에서 오류 최소화·유지보수 용이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347472" y="4864608"/>
            <a:ext cx="8449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우선 기준: 수업에서 바로 이해되고, 조립되고, 작동이 확인되는가?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</a:t>
            </a: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컬러 시스템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스티커 컬러 &amp; 스타일 가이드 — 실물 교구와 웹 서비스 통합 적용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1335024" cy="749808"/>
          </a:xfrm>
          <a:prstGeom prst="roundRect">
            <a:avLst>
              <a:gd name="adj" fmla="val 9756"/>
            </a:avLst>
          </a:prstGeom>
          <a:solidFill>
            <a:srgbClr val="FF6A00"/>
          </a:solidFill>
          <a:ln w="12700">
            <a:solidFill>
              <a:srgbClr val="E0E1E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47472" y="179222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#FF6A00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773936" y="1005840"/>
            <a:ext cx="1335024" cy="749808"/>
          </a:xfrm>
          <a:prstGeom prst="roundRect">
            <a:avLst>
              <a:gd name="adj" fmla="val 9756"/>
            </a:avLst>
          </a:prstGeom>
          <a:solidFill>
            <a:srgbClr val="0D1117"/>
          </a:solidFill>
          <a:ln w="12700">
            <a:solidFill>
              <a:srgbClr val="E0E1E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773936" y="179222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#0D1117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1335024" cy="749808"/>
          </a:xfrm>
          <a:prstGeom prst="roundRect">
            <a:avLst>
              <a:gd name="adj" fmla="val 9756"/>
            </a:avLst>
          </a:prstGeom>
          <a:solidFill>
            <a:srgbClr val="4A515C"/>
          </a:solidFill>
          <a:ln w="12700">
            <a:solidFill>
              <a:srgbClr val="E0E1E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200400" y="179222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#4A515C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26864" y="1005840"/>
            <a:ext cx="133502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0E1E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626864" y="179222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53328" y="1005840"/>
            <a:ext cx="1335024" cy="749808"/>
          </a:xfrm>
          <a:prstGeom prst="roundRect">
            <a:avLst>
              <a:gd name="adj" fmla="val 9756"/>
            </a:avLst>
          </a:prstGeom>
          <a:solidFill>
            <a:srgbClr val="D9DDE2"/>
          </a:solidFill>
          <a:ln w="12700">
            <a:solidFill>
              <a:srgbClr val="E0E1E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053328" y="179222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#D9DDE2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479792" y="1005840"/>
            <a:ext cx="1335024" cy="749808"/>
          </a:xfrm>
          <a:prstGeom prst="roundRect">
            <a:avLst>
              <a:gd name="adj" fmla="val 9756"/>
            </a:avLst>
          </a:prstGeom>
          <a:solidFill>
            <a:srgbClr val="1F6FAE"/>
          </a:solidFill>
          <a:ln w="12700">
            <a:solidFill>
              <a:srgbClr val="E0E1E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479792" y="179222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#1F6FAE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2176272"/>
            <a:ext cx="1051560" cy="310896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02336" y="2176272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구분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444752" y="2176272"/>
            <a:ext cx="1143000" cy="310896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499616" y="217627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색상명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33472" y="2176272"/>
            <a:ext cx="960120" cy="310896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688336" y="217627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39312" y="2176272"/>
            <a:ext cx="3154680" cy="310896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694176" y="2176272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위치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39712" y="2176272"/>
            <a:ext cx="2039112" cy="310896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894576" y="2176272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2523744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02336" y="2523744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444752" y="2523744"/>
            <a:ext cx="1143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499616" y="252374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화성 주황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33472" y="252374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2688336" y="259689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6A00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2980944" y="252374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#FF6A00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39312" y="2523744"/>
            <a:ext cx="3154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3694176" y="252374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스티커 강조 · 발사대 포인트 · 버튼·경고·미션 안내 그래픽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39712" y="2523744"/>
            <a:ext cx="20391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894576" y="252374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화성, 에너지, 탐험, 도전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7472" y="2944368"/>
            <a:ext cx="1051560" cy="384048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02336" y="2944368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444752" y="2944368"/>
            <a:ext cx="1143000" cy="384048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499616" y="294436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다크 네이비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33472" y="2944368"/>
            <a:ext cx="960120" cy="384048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2688336" y="301752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2980944" y="294436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#0D1117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39312" y="2944368"/>
            <a:ext cx="3154680" cy="384048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3694176" y="294436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본체 · 스티커 배경 · 고대비 패널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39712" y="2944368"/>
            <a:ext cx="2039112" cy="384048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894576" y="294436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우주, 안정감, 집중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47472" y="3364992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02336" y="336499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444752" y="3364992"/>
            <a:ext cx="1143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1499616" y="336499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차콜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633472" y="3364992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2688336" y="343814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4A515C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2980944" y="3364992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#4A515C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39312" y="3364992"/>
            <a:ext cx="3154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3694176" y="336499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외형 보조면 · 패널 · 기계적 구조 표현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839712" y="3364992"/>
            <a:ext cx="20391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6894576" y="336499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장비감, 내구성, 제품성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47472" y="3785616"/>
            <a:ext cx="1051560" cy="384048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402336" y="378561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1444752" y="3785616"/>
            <a:ext cx="1143000" cy="384048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1499616" y="378561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화이트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633472" y="3785616"/>
            <a:ext cx="960120" cy="384048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2688336" y="385876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2980944" y="3785616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639312" y="3785616"/>
            <a:ext cx="3154680" cy="384048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3694176" y="3785616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· 로켓 본체 · 고대비 정보 표시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839712" y="3785616"/>
            <a:ext cx="2039112" cy="384048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6894576" y="3785616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명료성, 청결감, 가독성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47472" y="4206240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402336" y="420624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444752" y="4206240"/>
            <a:ext cx="1143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1499616" y="420624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라이트 그레이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633472" y="420624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2688336" y="427939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D9DDE2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2980944" y="4206240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#D9DDE2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3639312" y="4206240"/>
            <a:ext cx="3154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3694176" y="4206240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보조 배경 · 구분선 · 설명 영역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839712" y="4206240"/>
            <a:ext cx="20391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/>
          <p:nvPr/>
        </p:nvSpPr>
        <p:spPr>
          <a:xfrm>
            <a:off x="6894576" y="420624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정돈, 중립, 정보 구조화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47472" y="4626864"/>
            <a:ext cx="1051560" cy="384048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402336" y="4626864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Albi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1444752" y="4626864"/>
            <a:ext cx="1143000" cy="384048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/>
          <p:nvPr/>
        </p:nvSpPr>
        <p:spPr>
          <a:xfrm>
            <a:off x="1499616" y="462686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메탈릭 블루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2633472" y="4626864"/>
            <a:ext cx="960120" cy="384048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2688336" y="470001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F6FAE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/>
          <p:nvPr/>
        </p:nvSpPr>
        <p:spPr>
          <a:xfrm>
            <a:off x="2980944" y="46268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#1F6FAE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3639312" y="4626864"/>
            <a:ext cx="3154680" cy="384048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7"/>
          <p:cNvSpPr/>
          <p:nvPr/>
        </p:nvSpPr>
        <p:spPr>
          <a:xfrm>
            <a:off x="3694176" y="462686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알비 캐릭터 본체 · 센서·기술 이미지 보조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6839712" y="4626864"/>
            <a:ext cx="2039112" cy="384048"/>
          </a:xfrm>
          <a:prstGeom prst="rect">
            <a:avLst/>
          </a:prstGeom>
          <a:solidFill>
            <a:srgbClr val="F5F6F8"/>
          </a:solidFill>
          <a:ln w="6350">
            <a:solidFill>
              <a:srgbClr val="E0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/>
          <p:nvPr/>
        </p:nvSpPr>
        <p:spPr>
          <a:xfrm>
            <a:off x="6894576" y="462686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기술, 신뢰, 로봇, 데이터, 미래성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ALBI </a:t>
            </a: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알비 소재감 — Silk Metallic Blue PLA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캐릭터 형태 유지 + 메탈릭 블루 소재감으로 기술성·신뢰감 강화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4160520" cy="3858768"/>
          </a:xfrm>
          <a:prstGeom prst="roundRect">
            <a:avLst>
              <a:gd name="adj" fmla="val 1896"/>
            </a:avLst>
          </a:prstGeom>
          <a:solidFill>
            <a:srgbClr val="EBF2FF"/>
          </a:solidFill>
          <a:ln w="19050">
            <a:solidFill>
              <a:srgbClr val="1F6FA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952244" y="1078992"/>
            <a:ext cx="941832" cy="9418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" y="2340864"/>
            <a:ext cx="3840480" cy="310896"/>
          </a:xfrm>
          <a:prstGeom prst="roundRect">
            <a:avLst>
              <a:gd name="adj" fmla="val 14706"/>
            </a:avLst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30352" y="234086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ALBI  /  Silk Metallic Blue PLA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30352" y="2871216"/>
            <a:ext cx="91440" cy="91440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94944" y="27523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재질 권장: 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609344" y="27523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Silk Metallic Blue PLA / Metallic Blue PLA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30352" y="3191256"/>
            <a:ext cx="91440" cy="91440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94944" y="30723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소재 효과: 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609344" y="307238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별도 도색 없이 은은한 광택·금속감 표현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0352" y="3511296"/>
            <a:ext cx="91440" cy="91440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694944" y="33924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형태 변경: 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609344" y="33924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캐릭터 조형은 변경하지 않음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0352" y="3831336"/>
            <a:ext cx="91440" cy="91440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94944" y="37124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스티커 적용: 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609344" y="37124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가슴·카트 전면·측면 ALBI 로고·감정 아이콘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30352" y="4151376"/>
            <a:ext cx="91440" cy="91440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694944" y="4032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배선 정리: 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609344" y="40325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하부 클립 / 케이블 홈으로 정리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30352" y="4471416"/>
            <a:ext cx="91440" cy="91440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694944" y="4352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색상 상징: 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609344" y="43525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기술, 데이터, 신뢰, 안정성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690872" y="1005840"/>
            <a:ext cx="4105656" cy="1828800"/>
          </a:xfrm>
          <a:prstGeom prst="roundRect">
            <a:avLst>
              <a:gd name="adj" fmla="val 4000"/>
            </a:avLst>
          </a:prstGeom>
          <a:solidFill>
            <a:srgbClr val="E8EBF0"/>
          </a:solidFill>
          <a:ln w="12700">
            <a:solidFill>
              <a:srgbClr val="4A515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4828032" y="10789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알비카트 (ALBI CART)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828032" y="1600200"/>
            <a:ext cx="91440" cy="91440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4992624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블랙 / 차콜 컬러 유지 (기계적 이미지)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828032" y="1920240"/>
            <a:ext cx="91440" cy="91440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4992624" y="1801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전면 패널: ALBI CART, MARS-01 스티커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828032" y="2240280"/>
            <a:ext cx="91440" cy="91440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4992624" y="2121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측면 패널: 브랜드 로고 + 시리얼 번호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828032" y="2560320"/>
            <a:ext cx="91440" cy="91440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4992624" y="2441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주행 안정성 검토 (4일차 테스트 기준)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690872" y="2962656"/>
            <a:ext cx="4105656" cy="1901952"/>
          </a:xfrm>
          <a:prstGeom prst="roundRect">
            <a:avLst>
              <a:gd name="adj" fmla="val 3846"/>
            </a:avLst>
          </a:prstGeom>
          <a:solidFill>
            <a:srgbClr val="FFF3EB"/>
          </a:solidFill>
          <a:ln w="12700">
            <a:solidFill>
              <a:srgbClr val="FF6A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4828032" y="30358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커스터마이징 스티커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4828032" y="340156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학생이 자신만의 알비를 완성했다는 느낌을 갖도록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스티커 커스터마이징 영역을 허용한다.</a:t>
            </a:r>
            <a:endParaRPr lang="en-US" sz="1100" dirty="0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986784"/>
            <a:ext cx="182880" cy="18288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5084064" y="395935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 스티커 (학생 직접 기입)</a:t>
            </a:r>
            <a:endParaRPr lang="en-US" sz="1050" dirty="0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4297680"/>
            <a:ext cx="182880" cy="18288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5084064" y="427024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감정 아이콘 선택 (기쁨·놀람·집중)</a:t>
            </a:r>
            <a:endParaRPr lang="en-US" sz="1050" dirty="0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4608576"/>
            <a:ext cx="182880" cy="18288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5084064" y="458114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별명·미션 넘버 스티커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</a:t>
            </a: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모듈별 제품 디자인 방향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모듈 — 룰렛 · 알비&amp;알비카트 · 화성신호등·RPS · 화성발사대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4251960" cy="1901952"/>
          </a:xfrm>
          <a:prstGeom prst="roundRect">
            <a:avLst>
              <a:gd name="adj" fmla="val 3846"/>
            </a:avLst>
          </a:prstGeom>
          <a:solidFill>
            <a:srgbClr val="F5F6F8"/>
          </a:solidFill>
          <a:ln w="15240">
            <a:solidFill>
              <a:srgbClr val="1F6FA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84632" y="1115568"/>
            <a:ext cx="3931920" cy="274320"/>
          </a:xfrm>
          <a:prstGeom prst="roundRect">
            <a:avLst>
              <a:gd name="adj" fmla="val 16667"/>
            </a:avLst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84632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룰렛 모듈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2064" y="14813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원형 구조·주황 포인터 유지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12064" y="1847088"/>
            <a:ext cx="91440" cy="91440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76656" y="173736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상판 스티커: 화성 방향 지시기/탐사 경로 선택/좌표 확인으로 교체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12064" y="2121408"/>
            <a:ext cx="91440" cy="91440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76656" y="201168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포인터: 단일 출력 부품으로 단순화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2064" y="2395728"/>
            <a:ext cx="91440" cy="91440"/>
          </a:xfrm>
          <a:prstGeom prst="ellipse">
            <a:avLst/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76656" y="228600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중심축: 나사·와셔로 안정 고정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4632" y="2615184"/>
            <a:ext cx="3931920" cy="237744"/>
          </a:xfrm>
          <a:prstGeom prst="roundRect">
            <a:avLst>
              <a:gd name="adj" fmla="val 15385"/>
            </a:avLst>
          </a:prstGeom>
          <a:solidFill>
            <a:srgbClr val="1F6FAE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84632" y="2615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제품화: 3D 부품 최소화, 학습 의미는 스티커 전달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82312" y="1005840"/>
            <a:ext cx="4251960" cy="1901952"/>
          </a:xfrm>
          <a:prstGeom prst="roundRect">
            <a:avLst>
              <a:gd name="adj" fmla="val 3846"/>
            </a:avLst>
          </a:prstGeom>
          <a:solidFill>
            <a:srgbClr val="F5F6F8"/>
          </a:solidFill>
          <a:ln w="15240">
            <a:solidFill>
              <a:srgbClr val="FF6A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919472" y="1115568"/>
            <a:ext cx="3931920" cy="274320"/>
          </a:xfrm>
          <a:prstGeom prst="roundRect">
            <a:avLst>
              <a:gd name="adj" fmla="val 16667"/>
            </a:avLst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919472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화성신호등·RPS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46904" y="14813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공용 베이스 구조 유지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46904" y="1847088"/>
            <a:ext cx="91440" cy="914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111496" y="173736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 아크릴 슬롯: 신호등 모드 ↔ 가위바위보 모드 교체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46904" y="2121408"/>
            <a:ext cx="91440" cy="914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111496" y="201168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신호등 모드: 정지/준비/출발 아이콘 아크릴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46904" y="2395728"/>
            <a:ext cx="91440" cy="914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111496" y="228600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RPS 모드: 가위/바위/보 손 모양 아크릴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46904" y="2670048"/>
            <a:ext cx="91440" cy="914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111496" y="256032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전면 스티커: MARS SIGNAL / RPS MODE 교체형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19472" y="2889504"/>
            <a:ext cx="3931920" cy="237744"/>
          </a:xfrm>
          <a:prstGeom prst="roundRect">
            <a:avLst>
              <a:gd name="adj" fmla="val 15385"/>
            </a:avLst>
          </a:prstGeom>
          <a:solidFill>
            <a:srgbClr val="FF6A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919472" y="28895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제품화: 전구 색상 미사용, 아이콘 실루엣+라벨로 모드 구분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" y="3054096"/>
            <a:ext cx="4251960" cy="1901952"/>
          </a:xfrm>
          <a:prstGeom prst="roundRect">
            <a:avLst>
              <a:gd name="adj" fmla="val 3846"/>
            </a:avLst>
          </a:prstGeom>
          <a:solidFill>
            <a:srgbClr val="F5F6F8"/>
          </a:solidFill>
          <a:ln w="15240">
            <a:solidFill>
              <a:srgbClr val="4A515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84632" y="3163824"/>
            <a:ext cx="3931920" cy="274320"/>
          </a:xfrm>
          <a:prstGeom prst="roundRect">
            <a:avLst>
              <a:gd name="adj" fmla="val 16667"/>
            </a:avLst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84632" y="3163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알비 &amp; 알비카트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2064" y="35295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캐릭터 조형 유지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12064" y="3895344"/>
            <a:ext cx="91440" cy="91440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76656" y="3785616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알비: Silk Metallic Blue PLA 출력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12064" y="4169664"/>
            <a:ext cx="91440" cy="91440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76656" y="4059936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알비카트: 블랙/차콜 유지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12064" y="4443984"/>
            <a:ext cx="91440" cy="91440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76656" y="4334256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스티커: ALBI / ALBI CART / MARS-01 / 감정 아이콘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12064" y="4718304"/>
            <a:ext cx="91440" cy="91440"/>
          </a:xfrm>
          <a:prstGeom prst="ellipse">
            <a:avLst/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76656" y="4608576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배선: 하부 클립·케이블 홈으로 정리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4632" y="4937760"/>
            <a:ext cx="3931920" cy="237744"/>
          </a:xfrm>
          <a:prstGeom prst="roundRect">
            <a:avLst>
              <a:gd name="adj" fmla="val 15385"/>
            </a:avLst>
          </a:prstGeom>
          <a:solidFill>
            <a:srgbClr val="4A515C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84632" y="49377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제품화: 조형 변경 없이 소재감·스티커로 제품성 향상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82312" y="3054096"/>
            <a:ext cx="4251960" cy="1901952"/>
          </a:xfrm>
          <a:prstGeom prst="roundRect">
            <a:avLst>
              <a:gd name="adj" fmla="val 3846"/>
            </a:avLst>
          </a:prstGeom>
          <a:solidFill>
            <a:srgbClr val="F5F6F8"/>
          </a:solidFill>
          <a:ln w="15240">
            <a:solidFill>
              <a:srgbClr val="0D1117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4919472" y="3163824"/>
            <a:ext cx="3931920" cy="274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919472" y="3163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화성발사대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946904" y="35295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세로 발사장치 내부 구조 유지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946904" y="3895344"/>
            <a:ext cx="91440" cy="91440"/>
          </a:xfrm>
          <a:prstGeom prst="ellipse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111496" y="3785616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외형: 다크 네이비·차콜 기반 슬림 박스형 재설계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946904" y="4169664"/>
            <a:ext cx="91440" cy="91440"/>
          </a:xfrm>
          <a:prstGeom prst="ellipse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5111496" y="4059936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상단: 발사 링·로켓 고정 가이드 설계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946904" y="4443984"/>
            <a:ext cx="91440" cy="91440"/>
          </a:xfrm>
          <a:prstGeom prst="ellipse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5111496" y="4334256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측면/후면: 유지보수 패널 배치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946904" y="4718304"/>
            <a:ext cx="91440" cy="91440"/>
          </a:xfrm>
          <a:prstGeom prst="ellipse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5111496" y="4608576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스티커: MARS LAUNCH-01 / LAUNCH CONTROL / CAUTION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919472" y="4937760"/>
            <a:ext cx="3931920" cy="237744"/>
          </a:xfrm>
          <a:prstGeom prst="roundRect">
            <a:avLst>
              <a:gd name="adj" fmla="val 15385"/>
            </a:avLst>
          </a:prstGeom>
          <a:solidFill>
            <a:srgbClr val="0D1117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4919472" y="49377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제품화: 내장 장치 밀착 수용, 교실 책상 안정 사용 크기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FF6A0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F6FAE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4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 교육용 로봇 플랫폼 디자인 고도화 운영계획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310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(주)코리아사이언스  /  동명대학교 게임공학과 · 게임그래픽학과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1일차 요구사항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15184" y="393192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615184" y="3931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2일차 조립점검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73168" y="393192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73168" y="3931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3일차 구체화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31152" y="393192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931152" y="3931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4일차 통합테스트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3159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4A51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" y="43159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5일차 가이드 정리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15184" y="43159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615184" y="43159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콘셉트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73168" y="43159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773168" y="43159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컬러 시스템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31152" y="43159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1F6F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931152" y="43159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 디자인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2179</Words>
  <Application>Microsoft Office PowerPoint</Application>
  <PresentationFormat>화면 슬라이드 쇼(16:9)</PresentationFormat>
  <Paragraphs>468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ARES 교육용 로봇 플랫폼 디자인 고도화 운영계획</dc:title>
  <dc:subject>PptxGenJS Presentation</dc:subject>
  <dc:creator>PptxGenJS</dc:creator>
  <cp:lastModifiedBy>서미라/게임그래픽학과</cp:lastModifiedBy>
  <cp:revision>3</cp:revision>
  <dcterms:created xsi:type="dcterms:W3CDTF">2026-06-28T09:01:00Z</dcterms:created>
  <dcterms:modified xsi:type="dcterms:W3CDTF">2026-06-30T00:42:22Z</dcterms:modified>
</cp:coreProperties>
</file>